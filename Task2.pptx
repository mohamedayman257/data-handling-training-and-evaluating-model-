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86" r:id="rId2"/>
  </p:sldMasterIdLst>
  <p:notesMasterIdLst>
    <p:notesMasterId r:id="rId13"/>
  </p:notesMasterIdLst>
  <p:sldIdLst>
    <p:sldId id="292" r:id="rId3"/>
    <p:sldId id="260" r:id="rId4"/>
    <p:sldId id="407" r:id="rId5"/>
    <p:sldId id="408" r:id="rId6"/>
    <p:sldId id="409" r:id="rId7"/>
    <p:sldId id="410" r:id="rId8"/>
    <p:sldId id="411" r:id="rId9"/>
    <p:sldId id="412" r:id="rId10"/>
    <p:sldId id="413" r:id="rId11"/>
    <p:sldId id="406" r:id="rId12"/>
  </p:sldIdLst>
  <p:sldSz cx="18288000" cy="10287000"/>
  <p:notesSz cx="6858000" cy="9144000"/>
  <p:embeddedFontLst>
    <p:embeddedFont>
      <p:font typeface="Microsoft Sans Serif" panose="020B0604020202020204" pitchFamily="3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82" autoAdjust="0"/>
    <p:restoredTop sz="91525" autoAdjust="0"/>
  </p:normalViewPr>
  <p:slideViewPr>
    <p:cSldViewPr>
      <p:cViewPr varScale="1">
        <p:scale>
          <a:sx n="66" d="100"/>
          <a:sy n="66" d="100"/>
        </p:scale>
        <p:origin x="1062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0FD0A-FE2C-46EB-8177-9AF94D7ECF8D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C852AE-1133-4F73-BBBB-3885EE7470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085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7E1FCE-83C8-4B59-AA4D-5DEA2FE13ED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115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12-Feb-26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4731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61558" y="478964"/>
            <a:ext cx="7164884" cy="467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40" b="0" i="0">
                <a:solidFill>
                  <a:srgbClr val="007BFF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4847973"/>
            <a:ext cx="12801600" cy="311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26" b="0" i="0">
                <a:solidFill>
                  <a:srgbClr val="6B747D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12-Feb-26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4182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77204" y="446795"/>
            <a:ext cx="13533595" cy="467820"/>
          </a:xfrm>
        </p:spPr>
        <p:txBody>
          <a:bodyPr lIns="0" tIns="0" rIns="0" bIns="0"/>
          <a:lstStyle>
            <a:lvl1pPr>
              <a:defRPr sz="3040" b="0" i="0">
                <a:solidFill>
                  <a:srgbClr val="007BFF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38200" y="1592018"/>
            <a:ext cx="8018145" cy="311752"/>
          </a:xfrm>
        </p:spPr>
        <p:txBody>
          <a:bodyPr lIns="0" tIns="0" rIns="0" bIns="0"/>
          <a:lstStyle>
            <a:lvl1pPr>
              <a:defRPr sz="2026" b="0" i="0">
                <a:solidFill>
                  <a:srgbClr val="6B747D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12-Feb-26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1742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77204" y="446795"/>
            <a:ext cx="13533595" cy="467820"/>
          </a:xfrm>
        </p:spPr>
        <p:txBody>
          <a:bodyPr lIns="0" tIns="0" rIns="0" bIns="0"/>
          <a:lstStyle>
            <a:lvl1pPr>
              <a:defRPr sz="3040" b="0" i="0">
                <a:solidFill>
                  <a:srgbClr val="007BFF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1" y="1991133"/>
            <a:ext cx="79552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19" y="1991133"/>
            <a:ext cx="79552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12-Feb-26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2153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77204" y="446795"/>
            <a:ext cx="13533595" cy="467820"/>
          </a:xfrm>
        </p:spPr>
        <p:txBody>
          <a:bodyPr lIns="0" tIns="0" rIns="0" bIns="0"/>
          <a:lstStyle>
            <a:lvl1pPr>
              <a:defRPr sz="3040" b="0" i="0">
                <a:solidFill>
                  <a:srgbClr val="007BFF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12-Feb-26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0269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12-Feb-26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2683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A3E7A03E-3088-EAC1-A3FA-545EEC0DAD67}"/>
              </a:ext>
            </a:extLst>
          </p:cNvPr>
          <p:cNvGrpSpPr>
            <a:grpSpLocks noChangeAspect="1"/>
          </p:cNvGrpSpPr>
          <p:nvPr userDrawn="1"/>
        </p:nvGrpSpPr>
        <p:grpSpPr>
          <a:xfrm rot="5400000">
            <a:off x="3952080" y="-4090320"/>
            <a:ext cx="10365840" cy="18475200"/>
            <a:chOff x="0" y="0"/>
            <a:chExt cx="13821120" cy="24633600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B2E2994E-3F9A-8910-A665-ED7E3A7B95D8}"/>
                </a:ext>
              </a:extLst>
            </p:cNvPr>
            <p:cNvSpPr/>
            <p:nvPr/>
          </p:nvSpPr>
          <p:spPr>
            <a:xfrm>
              <a:off x="0" y="0"/>
              <a:ext cx="13821156" cy="24633555"/>
            </a:xfrm>
            <a:custGeom>
              <a:avLst/>
              <a:gdLst/>
              <a:ahLst/>
              <a:cxnLst/>
              <a:rect l="l" t="t" r="r" b="b"/>
              <a:pathLst>
                <a:path w="13821156" h="24633555">
                  <a:moveTo>
                    <a:pt x="0" y="0"/>
                  </a:moveTo>
                  <a:lnTo>
                    <a:pt x="13821156" y="0"/>
                  </a:lnTo>
                  <a:lnTo>
                    <a:pt x="13821156" y="24633555"/>
                  </a:lnTo>
                  <a:lnTo>
                    <a:pt x="0" y="24633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6873" t="-1350" r="-225516" b="-3533"/>
              </a:stretch>
            </a:blipFill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Group 4">
            <a:extLst>
              <a:ext uri="{FF2B5EF4-FFF2-40B4-BE49-F238E27FC236}">
                <a16:creationId xmlns:a16="http://schemas.microsoft.com/office/drawing/2014/main" id="{7ACEEF43-C46A-29F3-B304-1FF7DBB78922}"/>
              </a:ext>
            </a:extLst>
          </p:cNvPr>
          <p:cNvGrpSpPr>
            <a:grpSpLocks noChangeAspect="1"/>
          </p:cNvGrpSpPr>
          <p:nvPr userDrawn="1"/>
        </p:nvGrpSpPr>
        <p:grpSpPr>
          <a:xfrm rot="5400000">
            <a:off x="4410367" y="-4041361"/>
            <a:ext cx="10275840" cy="18287280"/>
            <a:chOff x="0" y="0"/>
            <a:chExt cx="13701120" cy="24383040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C2FD59E4-F1B0-DA3E-456F-060661799F98}"/>
                </a:ext>
              </a:extLst>
            </p:cNvPr>
            <p:cNvSpPr/>
            <p:nvPr/>
          </p:nvSpPr>
          <p:spPr>
            <a:xfrm>
              <a:off x="0" y="0"/>
              <a:ext cx="13701140" cy="24382985"/>
            </a:xfrm>
            <a:custGeom>
              <a:avLst/>
              <a:gdLst/>
              <a:ahLst/>
              <a:cxnLst/>
              <a:rect l="l" t="t" r="r" b="b"/>
              <a:pathLst>
                <a:path w="13701140" h="24382985">
                  <a:moveTo>
                    <a:pt x="0" y="0"/>
                  </a:moveTo>
                  <a:lnTo>
                    <a:pt x="13701140" y="0"/>
                  </a:lnTo>
                  <a:lnTo>
                    <a:pt x="13701140" y="24382985"/>
                  </a:lnTo>
                  <a:lnTo>
                    <a:pt x="0" y="2438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alphaModFix amt="50000"/>
              </a:blip>
              <a:stretch>
                <a:fillRect l="-16966" t="-3901" r="-46200" b="52337"/>
              </a:stretch>
            </a:blipFill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77204" y="446795"/>
            <a:ext cx="13533595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007BFF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38200" y="1592018"/>
            <a:ext cx="801814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B747D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8051097"/>
            <a:ext cx="5852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1" y="8051097"/>
            <a:ext cx="42062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12-Feb-26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59" y="8051097"/>
            <a:ext cx="42062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3C8A7296-5216-7841-2C54-19817BE343F6}"/>
              </a:ext>
            </a:extLst>
          </p:cNvPr>
          <p:cNvGrpSpPr>
            <a:grpSpLocks noChangeAspect="1"/>
          </p:cNvGrpSpPr>
          <p:nvPr userDrawn="1"/>
        </p:nvGrpSpPr>
        <p:grpSpPr>
          <a:xfrm rot="5400000">
            <a:off x="3952080" y="-4090320"/>
            <a:ext cx="10365840" cy="18475200"/>
            <a:chOff x="0" y="0"/>
            <a:chExt cx="13821120" cy="24633600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3D040302-4E46-68AA-4A2D-AC239287434F}"/>
                </a:ext>
              </a:extLst>
            </p:cNvPr>
            <p:cNvSpPr/>
            <p:nvPr/>
          </p:nvSpPr>
          <p:spPr>
            <a:xfrm>
              <a:off x="0" y="0"/>
              <a:ext cx="13821156" cy="24633555"/>
            </a:xfrm>
            <a:custGeom>
              <a:avLst/>
              <a:gdLst/>
              <a:ahLst/>
              <a:cxnLst/>
              <a:rect l="l" t="t" r="r" b="b"/>
              <a:pathLst>
                <a:path w="13821156" h="24633555">
                  <a:moveTo>
                    <a:pt x="0" y="0"/>
                  </a:moveTo>
                  <a:lnTo>
                    <a:pt x="13821156" y="0"/>
                  </a:lnTo>
                  <a:lnTo>
                    <a:pt x="13821156" y="24633555"/>
                  </a:lnTo>
                  <a:lnTo>
                    <a:pt x="0" y="24633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6873" t="-1350" r="-225516" b="-3533"/>
              </a:stretch>
            </a:blipFill>
          </p:spPr>
          <p:txBody>
            <a:bodyPr/>
            <a:lstStyle/>
            <a:p>
              <a:endParaRPr 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9" name="Group 4">
            <a:extLst>
              <a:ext uri="{FF2B5EF4-FFF2-40B4-BE49-F238E27FC236}">
                <a16:creationId xmlns:a16="http://schemas.microsoft.com/office/drawing/2014/main" id="{DC361283-B4A7-5104-ECDB-3AB048127D8A}"/>
              </a:ext>
            </a:extLst>
          </p:cNvPr>
          <p:cNvGrpSpPr>
            <a:grpSpLocks noChangeAspect="1"/>
          </p:cNvGrpSpPr>
          <p:nvPr userDrawn="1"/>
        </p:nvGrpSpPr>
        <p:grpSpPr>
          <a:xfrm rot="5400000">
            <a:off x="4410367" y="-4041361"/>
            <a:ext cx="10275840" cy="18287280"/>
            <a:chOff x="0" y="0"/>
            <a:chExt cx="13701120" cy="24383040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1F277D9C-9246-458C-B958-529DBC6B613E}"/>
                </a:ext>
              </a:extLst>
            </p:cNvPr>
            <p:cNvSpPr/>
            <p:nvPr/>
          </p:nvSpPr>
          <p:spPr>
            <a:xfrm>
              <a:off x="0" y="0"/>
              <a:ext cx="13701140" cy="24382985"/>
            </a:xfrm>
            <a:custGeom>
              <a:avLst/>
              <a:gdLst/>
              <a:ahLst/>
              <a:cxnLst/>
              <a:rect l="l" t="t" r="r" b="b"/>
              <a:pathLst>
                <a:path w="13701140" h="24382985">
                  <a:moveTo>
                    <a:pt x="0" y="0"/>
                  </a:moveTo>
                  <a:lnTo>
                    <a:pt x="13701140" y="0"/>
                  </a:lnTo>
                  <a:lnTo>
                    <a:pt x="13701140" y="24382985"/>
                  </a:lnTo>
                  <a:lnTo>
                    <a:pt x="0" y="2438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50000"/>
              </a:blip>
              <a:stretch>
                <a:fillRect l="-16966" t="-3901" r="-46200" b="52337"/>
              </a:stretch>
            </a:blipFill>
          </p:spPr>
          <p:txBody>
            <a:bodyPr/>
            <a:lstStyle/>
            <a:p>
              <a:endParaRPr 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2562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</p:sldLayoutIdLst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514716">
        <a:defRPr>
          <a:latin typeface="+mn-lt"/>
          <a:ea typeface="+mn-ea"/>
          <a:cs typeface="+mn-cs"/>
        </a:defRPr>
      </a:lvl2pPr>
      <a:lvl3pPr marL="1029432">
        <a:defRPr>
          <a:latin typeface="+mn-lt"/>
          <a:ea typeface="+mn-ea"/>
          <a:cs typeface="+mn-cs"/>
        </a:defRPr>
      </a:lvl3pPr>
      <a:lvl4pPr marL="1544147">
        <a:defRPr>
          <a:latin typeface="+mn-lt"/>
          <a:ea typeface="+mn-ea"/>
          <a:cs typeface="+mn-cs"/>
        </a:defRPr>
      </a:lvl4pPr>
      <a:lvl5pPr marL="2058863">
        <a:defRPr>
          <a:latin typeface="+mn-lt"/>
          <a:ea typeface="+mn-ea"/>
          <a:cs typeface="+mn-cs"/>
        </a:defRPr>
      </a:lvl5pPr>
      <a:lvl6pPr marL="2573579">
        <a:defRPr>
          <a:latin typeface="+mn-lt"/>
          <a:ea typeface="+mn-ea"/>
          <a:cs typeface="+mn-cs"/>
        </a:defRPr>
      </a:lvl6pPr>
      <a:lvl7pPr marL="3088295">
        <a:defRPr>
          <a:latin typeface="+mn-lt"/>
          <a:ea typeface="+mn-ea"/>
          <a:cs typeface="+mn-cs"/>
        </a:defRPr>
      </a:lvl7pPr>
      <a:lvl8pPr marL="3603010">
        <a:defRPr>
          <a:latin typeface="+mn-lt"/>
          <a:ea typeface="+mn-ea"/>
          <a:cs typeface="+mn-cs"/>
        </a:defRPr>
      </a:lvl8pPr>
      <a:lvl9pPr marL="4117726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514716">
        <a:defRPr>
          <a:latin typeface="+mn-lt"/>
          <a:ea typeface="+mn-ea"/>
          <a:cs typeface="+mn-cs"/>
        </a:defRPr>
      </a:lvl2pPr>
      <a:lvl3pPr marL="1029432">
        <a:defRPr>
          <a:latin typeface="+mn-lt"/>
          <a:ea typeface="+mn-ea"/>
          <a:cs typeface="+mn-cs"/>
        </a:defRPr>
      </a:lvl3pPr>
      <a:lvl4pPr marL="1544147">
        <a:defRPr>
          <a:latin typeface="+mn-lt"/>
          <a:ea typeface="+mn-ea"/>
          <a:cs typeface="+mn-cs"/>
        </a:defRPr>
      </a:lvl4pPr>
      <a:lvl5pPr marL="2058863">
        <a:defRPr>
          <a:latin typeface="+mn-lt"/>
          <a:ea typeface="+mn-ea"/>
          <a:cs typeface="+mn-cs"/>
        </a:defRPr>
      </a:lvl5pPr>
      <a:lvl6pPr marL="2573579">
        <a:defRPr>
          <a:latin typeface="+mn-lt"/>
          <a:ea typeface="+mn-ea"/>
          <a:cs typeface="+mn-cs"/>
        </a:defRPr>
      </a:lvl6pPr>
      <a:lvl7pPr marL="3088295">
        <a:defRPr>
          <a:latin typeface="+mn-lt"/>
          <a:ea typeface="+mn-ea"/>
          <a:cs typeface="+mn-cs"/>
        </a:defRPr>
      </a:lvl7pPr>
      <a:lvl8pPr marL="3603010">
        <a:defRPr>
          <a:latin typeface="+mn-lt"/>
          <a:ea typeface="+mn-ea"/>
          <a:cs typeface="+mn-cs"/>
        </a:defRPr>
      </a:lvl8pPr>
      <a:lvl9pPr marL="4117726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543050"/>
          <a:ext cx="8229600" cy="3257550"/>
          <a:chOff x="914400" y="1543050"/>
          <a:chExt cx="8229600" cy="3257550"/>
        </a:xfrm>
      </p:grpSpPr>
      <p:sp>
        <p:nvSpPr>
          <p:cNvPr id="2" name="TextBox 1"/>
          <p:cNvSpPr txBox="1"/>
          <p:nvPr/>
        </p:nvSpPr>
        <p:spPr>
          <a:xfrm>
            <a:off x="685800" y="3389173"/>
            <a:ext cx="15621000" cy="3508653"/>
          </a:xfrm>
          <a:prstGeom prst="rect">
            <a:avLst/>
          </a:prstGeom>
          <a:noFill/>
        </p:spPr>
        <p:txBody>
          <a:bodyPr vert="horz" wrap="square" lIns="182880" tIns="91440" rIns="182880" bIns="91440" rtlCol="0" anchor="t" anchorCtr="0">
            <a:spAutoFit/>
          </a:bodyPr>
          <a:lstStyle/>
          <a:p>
            <a:pPr algn="ctr" fontAlgn="t"/>
            <a:r>
              <a:rPr lang="en-US" sz="7200" b="1" dirty="0">
                <a:solidFill>
                  <a:schemeClr val="bg1"/>
                </a:solidFill>
                <a:latin typeface="Arial"/>
              </a:rPr>
              <a:t>Data Handling</a:t>
            </a:r>
          </a:p>
          <a:p>
            <a:pPr algn="ctr" fontAlgn="t"/>
            <a:r>
              <a:rPr lang="en-US" sz="7200" b="1" dirty="0">
                <a:solidFill>
                  <a:schemeClr val="bg1"/>
                </a:solidFill>
                <a:latin typeface="Arial"/>
              </a:rPr>
              <a:t>Training model</a:t>
            </a:r>
          </a:p>
          <a:p>
            <a:pPr algn="ctr" fontAlgn="t"/>
            <a:r>
              <a:rPr lang="en-US" sz="7200" b="1" dirty="0">
                <a:solidFill>
                  <a:schemeClr val="bg1"/>
                </a:solidFill>
                <a:latin typeface="Arial"/>
              </a:rPr>
              <a:t>Evaluating model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1A41DF-D578-6EB1-3C77-EF16A69B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920325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sz="7200" b="1" dirty="0">
                <a:latin typeface="Arial"/>
                <a:ea typeface="+mn-ea"/>
                <a:cs typeface="+mn-cs"/>
              </a:rPr>
              <a:t>Task 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028700"/>
          <a:ext cx="8229600" cy="4543425"/>
          <a:chOff x="914400" y="1028700"/>
          <a:chExt cx="8229600" cy="4543425"/>
        </a:xfrm>
      </p:grpSpPr>
      <p:sp>
        <p:nvSpPr>
          <p:cNvPr id="2" name="TextBox 1"/>
          <p:cNvSpPr txBox="1"/>
          <p:nvPr/>
        </p:nvSpPr>
        <p:spPr>
          <a:xfrm>
            <a:off x="1828800" y="800942"/>
            <a:ext cx="14630400" cy="1107996"/>
          </a:xfrm>
          <a:prstGeom prst="rect">
            <a:avLst/>
          </a:prstGeom>
          <a:noFill/>
        </p:spPr>
        <p:txBody>
          <a:bodyPr vert="horz" lIns="182880" tIns="91440" rIns="182880" bIns="91440" rtlCol="0" anchor="t" anchorCtr="0">
            <a:spAutoFit/>
          </a:bodyPr>
          <a:lstStyle/>
          <a:p>
            <a:pPr fontAlgn="t"/>
            <a:r>
              <a:rPr lang="en-US" sz="5600" b="1" dirty="0">
                <a:solidFill>
                  <a:schemeClr val="bg1"/>
                </a:solidFill>
                <a:latin typeface="Arial"/>
              </a:rPr>
              <a:t>1- </a:t>
            </a:r>
            <a:r>
              <a:rPr lang="en-US" sz="6000" b="1" dirty="0">
                <a:solidFill>
                  <a:schemeClr val="bg1"/>
                </a:solidFill>
                <a:latin typeface="Arial"/>
              </a:rPr>
              <a:t>Data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47900"/>
            <a:ext cx="14630400" cy="8186857"/>
          </a:xfrm>
          <a:prstGeom prst="rect">
            <a:avLst/>
          </a:prstGeom>
          <a:noFill/>
        </p:spPr>
        <p:txBody>
          <a:bodyPr vert="horz" lIns="182880" tIns="91440" rIns="182880" bIns="91440" rtlCol="0" anchorCtr="0">
            <a:spAutoFit/>
          </a:bodyPr>
          <a:lstStyle/>
          <a:p>
            <a:pPr marL="685800" indent="-685800" fontAlgn="base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Arial"/>
              </a:rPr>
              <a:t>First, we make new features number of people and number of nights and remove the columns from the dataset </a:t>
            </a: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C997DF-78D4-609E-DF5A-5A767693C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5829300"/>
            <a:ext cx="11506200" cy="20383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99DB5-2AEE-2285-F73D-1DE4F982450F}"/>
            </a:ext>
          </a:extLst>
        </p:cNvPr>
        <p:cNvGrpSpPr/>
        <p:nvPr/>
      </p:nvGrpSpPr>
      <p:grpSpPr>
        <a:xfrm>
          <a:off x="914400" y="1028700"/>
          <a:ext cx="8229600" cy="4543425"/>
          <a:chOff x="914400" y="1028700"/>
          <a:chExt cx="8229600" cy="4543425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58E260-7428-81EA-65AB-E037626D823F}"/>
              </a:ext>
            </a:extLst>
          </p:cNvPr>
          <p:cNvSpPr txBox="1"/>
          <p:nvPr/>
        </p:nvSpPr>
        <p:spPr>
          <a:xfrm>
            <a:off x="1828800" y="800942"/>
            <a:ext cx="14630400" cy="1107996"/>
          </a:xfrm>
          <a:prstGeom prst="rect">
            <a:avLst/>
          </a:prstGeom>
          <a:noFill/>
        </p:spPr>
        <p:txBody>
          <a:bodyPr vert="horz" lIns="182880" tIns="91440" rIns="182880" bIns="91440" rtlCol="0" anchor="t" anchorCtr="0">
            <a:spAutoFit/>
          </a:bodyPr>
          <a:lstStyle/>
          <a:p>
            <a:pPr fontAlgn="t"/>
            <a:r>
              <a:rPr lang="en-US" sz="5600" b="1" dirty="0">
                <a:solidFill>
                  <a:schemeClr val="bg1"/>
                </a:solidFill>
                <a:latin typeface="Arial"/>
              </a:rPr>
              <a:t>1- </a:t>
            </a:r>
            <a:r>
              <a:rPr lang="en-US" sz="6000" b="1" dirty="0">
                <a:solidFill>
                  <a:schemeClr val="bg1"/>
                </a:solidFill>
                <a:latin typeface="Arial"/>
              </a:rPr>
              <a:t>Data Handling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FFD344-EF18-9D15-E637-F8C4D75553CF}"/>
              </a:ext>
            </a:extLst>
          </p:cNvPr>
          <p:cNvSpPr txBox="1"/>
          <p:nvPr/>
        </p:nvSpPr>
        <p:spPr>
          <a:xfrm>
            <a:off x="1828800" y="2247900"/>
            <a:ext cx="14630400" cy="8186857"/>
          </a:xfrm>
          <a:prstGeom prst="rect">
            <a:avLst/>
          </a:prstGeom>
          <a:noFill/>
        </p:spPr>
        <p:txBody>
          <a:bodyPr vert="horz" lIns="182880" tIns="91440" rIns="182880" bIns="91440" rtlCol="0" anchorCtr="0">
            <a:spAutoFit/>
          </a:bodyPr>
          <a:lstStyle/>
          <a:p>
            <a:pPr marL="685800" indent="-685800" fontAlgn="base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Arial"/>
              </a:rPr>
              <a:t>Second, we extract the month and the year from date of reservations and remove date of reservations column</a:t>
            </a: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DD8D5D-3495-5FEA-A8E9-3AF867BAD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771" y="4964810"/>
            <a:ext cx="12953999" cy="15636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C225F2-F40B-F708-DEB9-B839DA6FD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7771" y="7199688"/>
            <a:ext cx="12953999" cy="167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5206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A195D-9CC9-21A9-63E9-885C01C42FDB}"/>
            </a:ext>
          </a:extLst>
        </p:cNvPr>
        <p:cNvGrpSpPr/>
        <p:nvPr/>
      </p:nvGrpSpPr>
      <p:grpSpPr>
        <a:xfrm>
          <a:off x="914400" y="1028700"/>
          <a:ext cx="8229600" cy="4543425"/>
          <a:chOff x="914400" y="1028700"/>
          <a:chExt cx="8229600" cy="4543425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06D6E4-958A-87AE-1759-CCB9BA27EFE2}"/>
              </a:ext>
            </a:extLst>
          </p:cNvPr>
          <p:cNvSpPr txBox="1"/>
          <p:nvPr/>
        </p:nvSpPr>
        <p:spPr>
          <a:xfrm>
            <a:off x="1828800" y="800942"/>
            <a:ext cx="14630400" cy="1107996"/>
          </a:xfrm>
          <a:prstGeom prst="rect">
            <a:avLst/>
          </a:prstGeom>
          <a:noFill/>
        </p:spPr>
        <p:txBody>
          <a:bodyPr vert="horz" lIns="182880" tIns="91440" rIns="182880" bIns="91440" rtlCol="0" anchor="t" anchorCtr="0">
            <a:spAutoFit/>
          </a:bodyPr>
          <a:lstStyle/>
          <a:p>
            <a:pPr fontAlgn="t"/>
            <a:r>
              <a:rPr lang="en-US" sz="5600" b="1" dirty="0">
                <a:solidFill>
                  <a:schemeClr val="bg1"/>
                </a:solidFill>
                <a:latin typeface="Arial"/>
              </a:rPr>
              <a:t>1- </a:t>
            </a:r>
            <a:r>
              <a:rPr lang="en-US" sz="6000" b="1" dirty="0">
                <a:solidFill>
                  <a:schemeClr val="bg1"/>
                </a:solidFill>
                <a:latin typeface="Arial"/>
              </a:rPr>
              <a:t>Data Handling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0A2B53-6634-5682-86BE-7C609012E57E}"/>
              </a:ext>
            </a:extLst>
          </p:cNvPr>
          <p:cNvSpPr txBox="1"/>
          <p:nvPr/>
        </p:nvSpPr>
        <p:spPr>
          <a:xfrm>
            <a:off x="1828800" y="2247900"/>
            <a:ext cx="14630400" cy="6955750"/>
          </a:xfrm>
          <a:prstGeom prst="rect">
            <a:avLst/>
          </a:prstGeom>
          <a:noFill/>
        </p:spPr>
        <p:txBody>
          <a:bodyPr vert="horz" lIns="182880" tIns="91440" rIns="182880" bIns="91440" rtlCol="0" anchorCtr="0">
            <a:spAutoFit/>
          </a:bodyPr>
          <a:lstStyle/>
          <a:p>
            <a:pPr marL="685800" indent="-685800" fontAlgn="base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Arial"/>
              </a:rPr>
              <a:t>But we notice there is Nulls after we extract the year and month so we dropped them </a:t>
            </a: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A4CC62-1EB9-A827-8355-C3A12B8AD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5090886"/>
            <a:ext cx="13716000" cy="33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1704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2F726-9229-0A2B-6474-DC49463ABACB}"/>
            </a:ext>
          </a:extLst>
        </p:cNvPr>
        <p:cNvGrpSpPr/>
        <p:nvPr/>
      </p:nvGrpSpPr>
      <p:grpSpPr>
        <a:xfrm>
          <a:off x="914400" y="1028700"/>
          <a:ext cx="8229600" cy="4543425"/>
          <a:chOff x="914400" y="1028700"/>
          <a:chExt cx="8229600" cy="4543425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7674D5-32FE-8E41-69CD-D671811D7C8B}"/>
              </a:ext>
            </a:extLst>
          </p:cNvPr>
          <p:cNvSpPr txBox="1"/>
          <p:nvPr/>
        </p:nvSpPr>
        <p:spPr>
          <a:xfrm>
            <a:off x="1828800" y="800942"/>
            <a:ext cx="14630400" cy="1107996"/>
          </a:xfrm>
          <a:prstGeom prst="rect">
            <a:avLst/>
          </a:prstGeom>
          <a:noFill/>
        </p:spPr>
        <p:txBody>
          <a:bodyPr vert="horz" lIns="182880" tIns="91440" rIns="182880" bIns="91440" rtlCol="0" anchor="t" anchorCtr="0">
            <a:spAutoFit/>
          </a:bodyPr>
          <a:lstStyle/>
          <a:p>
            <a:pPr fontAlgn="t"/>
            <a:r>
              <a:rPr lang="en-US" sz="5600" b="1" dirty="0">
                <a:solidFill>
                  <a:schemeClr val="bg1"/>
                </a:solidFill>
                <a:latin typeface="Arial"/>
              </a:rPr>
              <a:t>1- </a:t>
            </a:r>
            <a:r>
              <a:rPr lang="en-US" sz="6000" b="1" dirty="0">
                <a:solidFill>
                  <a:schemeClr val="bg1"/>
                </a:solidFill>
                <a:latin typeface="Arial"/>
              </a:rPr>
              <a:t>Data Handling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FD8CAF-E880-F281-776B-984353E669B9}"/>
              </a:ext>
            </a:extLst>
          </p:cNvPr>
          <p:cNvSpPr txBox="1"/>
          <p:nvPr/>
        </p:nvSpPr>
        <p:spPr>
          <a:xfrm>
            <a:off x="1828800" y="2247900"/>
            <a:ext cx="14630400" cy="6955750"/>
          </a:xfrm>
          <a:prstGeom prst="rect">
            <a:avLst/>
          </a:prstGeom>
          <a:noFill/>
        </p:spPr>
        <p:txBody>
          <a:bodyPr vert="horz" lIns="182880" tIns="91440" rIns="182880" bIns="91440" rtlCol="0" anchorCtr="0">
            <a:spAutoFit/>
          </a:bodyPr>
          <a:lstStyle/>
          <a:p>
            <a:pPr fontAlgn="base"/>
            <a:r>
              <a:rPr lang="en-US" sz="4000" dirty="0">
                <a:solidFill>
                  <a:schemeClr val="bg1"/>
                </a:solidFill>
                <a:latin typeface="Arial"/>
              </a:rPr>
              <a:t>Then we replace booking status values with 0 and 1 and begin to split the data to work on it and handle outlier and encoding the categorical features  </a:t>
            </a: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BF5B53-C406-8E0F-F088-FC2402172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5225603"/>
            <a:ext cx="14630400" cy="1447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A17706-8A86-D4D5-5A61-B33CA0BB2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7084751"/>
            <a:ext cx="14630400" cy="164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1731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9E769-A4A6-BD2D-70E3-8FF70859FBEE}"/>
            </a:ext>
          </a:extLst>
        </p:cNvPr>
        <p:cNvGrpSpPr/>
        <p:nvPr/>
      </p:nvGrpSpPr>
      <p:grpSpPr>
        <a:xfrm>
          <a:off x="914400" y="1028700"/>
          <a:ext cx="8229600" cy="4543425"/>
          <a:chOff x="914400" y="1028700"/>
          <a:chExt cx="8229600" cy="4543425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9F62C3-78D0-4EE7-9A17-D83F877468BE}"/>
              </a:ext>
            </a:extLst>
          </p:cNvPr>
          <p:cNvSpPr txBox="1"/>
          <p:nvPr/>
        </p:nvSpPr>
        <p:spPr>
          <a:xfrm>
            <a:off x="1828800" y="800942"/>
            <a:ext cx="14630400" cy="1107996"/>
          </a:xfrm>
          <a:prstGeom prst="rect">
            <a:avLst/>
          </a:prstGeom>
          <a:noFill/>
        </p:spPr>
        <p:txBody>
          <a:bodyPr vert="horz" lIns="182880" tIns="91440" rIns="182880" bIns="91440" rtlCol="0" anchor="t" anchorCtr="0">
            <a:spAutoFit/>
          </a:bodyPr>
          <a:lstStyle/>
          <a:p>
            <a:pPr fontAlgn="t"/>
            <a:r>
              <a:rPr lang="en-US" sz="5600" b="1" dirty="0">
                <a:solidFill>
                  <a:schemeClr val="bg1"/>
                </a:solidFill>
                <a:latin typeface="Arial"/>
              </a:rPr>
              <a:t>1- </a:t>
            </a:r>
            <a:r>
              <a:rPr lang="en-US" sz="6000" b="1" dirty="0">
                <a:solidFill>
                  <a:schemeClr val="bg1"/>
                </a:solidFill>
                <a:latin typeface="Arial"/>
              </a:rPr>
              <a:t>Data Handling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948204-AA9D-3D12-E342-30D21D7E3E96}"/>
              </a:ext>
            </a:extLst>
          </p:cNvPr>
          <p:cNvSpPr txBox="1"/>
          <p:nvPr/>
        </p:nvSpPr>
        <p:spPr>
          <a:xfrm>
            <a:off x="1828800" y="2247900"/>
            <a:ext cx="14630400" cy="6955750"/>
          </a:xfrm>
          <a:prstGeom prst="rect">
            <a:avLst/>
          </a:prstGeom>
          <a:noFill/>
        </p:spPr>
        <p:txBody>
          <a:bodyPr vert="horz" lIns="182880" tIns="91440" rIns="182880" bIns="91440" rtlCol="0" anchorCtr="0">
            <a:spAutoFit/>
          </a:bodyPr>
          <a:lstStyle/>
          <a:p>
            <a:pPr fontAlgn="base"/>
            <a:r>
              <a:rPr lang="en-US" sz="4000" dirty="0">
                <a:solidFill>
                  <a:schemeClr val="bg1"/>
                </a:solidFill>
                <a:latin typeface="Arial"/>
              </a:rPr>
              <a:t>I chose not drop all of the outliers because there are values we need to know so I handled average price only.</a:t>
            </a:r>
          </a:p>
          <a:p>
            <a:pPr fontAlgn="base"/>
            <a:r>
              <a:rPr lang="en-US" sz="4000" dirty="0">
                <a:solidFill>
                  <a:schemeClr val="bg1"/>
                </a:solidFill>
                <a:latin typeface="Arial"/>
              </a:rPr>
              <a:t>We notice that the value after 300 won’t affect the model so we drop them</a:t>
            </a: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  <a:p>
            <a:pPr fontAlgn="base"/>
            <a:endParaRPr lang="en-US" sz="4000" dirty="0">
              <a:solidFill>
                <a:schemeClr val="bg1"/>
              </a:solidFill>
              <a:latin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40F371-A551-B222-2839-5E35E507D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0" y="5099413"/>
            <a:ext cx="6934200" cy="43630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F70CD5-F4A0-90C7-6349-FF14FA11E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5099413"/>
            <a:ext cx="6248400" cy="4363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6425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26865-D87D-6481-6B77-FA5744C24E43}"/>
            </a:ext>
          </a:extLst>
        </p:cNvPr>
        <p:cNvGrpSpPr/>
        <p:nvPr/>
      </p:nvGrpSpPr>
      <p:grpSpPr>
        <a:xfrm>
          <a:off x="914400" y="1028700"/>
          <a:ext cx="8229600" cy="4543425"/>
          <a:chOff x="914400" y="1028700"/>
          <a:chExt cx="8229600" cy="4543425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B08831-6E62-806D-5E17-7F0F12E6E06D}"/>
              </a:ext>
            </a:extLst>
          </p:cNvPr>
          <p:cNvSpPr txBox="1"/>
          <p:nvPr/>
        </p:nvSpPr>
        <p:spPr>
          <a:xfrm>
            <a:off x="1828800" y="800942"/>
            <a:ext cx="14630400" cy="1107996"/>
          </a:xfrm>
          <a:prstGeom prst="rect">
            <a:avLst/>
          </a:prstGeom>
          <a:noFill/>
        </p:spPr>
        <p:txBody>
          <a:bodyPr vert="horz" lIns="182880" tIns="91440" rIns="182880" bIns="91440" rtlCol="0" anchor="t" anchorCtr="0">
            <a:spAutoFit/>
          </a:bodyPr>
          <a:lstStyle/>
          <a:p>
            <a:pPr fontAlgn="t"/>
            <a:r>
              <a:rPr lang="en-US" sz="5600" b="1" dirty="0">
                <a:solidFill>
                  <a:schemeClr val="bg1"/>
                </a:solidFill>
                <a:latin typeface="Arial"/>
              </a:rPr>
              <a:t>1- </a:t>
            </a:r>
            <a:r>
              <a:rPr lang="en-US" sz="6000" b="1" dirty="0">
                <a:solidFill>
                  <a:schemeClr val="bg1"/>
                </a:solidFill>
                <a:latin typeface="Arial"/>
              </a:rPr>
              <a:t>Data Handling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5A44F0-AAE0-E401-B91D-0BBB714C6F6F}"/>
              </a:ext>
            </a:extLst>
          </p:cNvPr>
          <p:cNvSpPr txBox="1"/>
          <p:nvPr/>
        </p:nvSpPr>
        <p:spPr>
          <a:xfrm>
            <a:off x="1828800" y="2145384"/>
            <a:ext cx="14630400" cy="2031325"/>
          </a:xfrm>
          <a:prstGeom prst="rect">
            <a:avLst/>
          </a:prstGeom>
          <a:noFill/>
        </p:spPr>
        <p:txBody>
          <a:bodyPr vert="horz" lIns="182880" tIns="91440" rIns="182880" bIns="91440" rtlCol="0" anchorCtr="0">
            <a:spAutoFit/>
          </a:bodyPr>
          <a:lstStyle/>
          <a:p>
            <a:pPr fontAlgn="base"/>
            <a:r>
              <a:rPr lang="en-US" sz="4000" dirty="0">
                <a:solidFill>
                  <a:schemeClr val="bg1"/>
                </a:solidFill>
                <a:latin typeface="Arial"/>
              </a:rPr>
              <a:t>We now use one hot encoder to transform the object features to numerical.</a:t>
            </a:r>
          </a:p>
          <a:p>
            <a:pPr fontAlgn="base"/>
            <a:r>
              <a:rPr lang="en-US" sz="4000" dirty="0">
                <a:solidFill>
                  <a:schemeClr val="bg1"/>
                </a:solidFill>
                <a:latin typeface="Arial"/>
              </a:rPr>
              <a:t>We notice all the cat values are nominal values.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0A2E9B-CBEF-9C2B-97D6-37E1A2398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4782488"/>
            <a:ext cx="14401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0541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132A0-BF75-C3EE-0F6D-0FB4C4117495}"/>
            </a:ext>
          </a:extLst>
        </p:cNvPr>
        <p:cNvGrpSpPr/>
        <p:nvPr/>
      </p:nvGrpSpPr>
      <p:grpSpPr>
        <a:xfrm>
          <a:off x="914400" y="1028700"/>
          <a:ext cx="8229600" cy="4543425"/>
          <a:chOff x="914400" y="1028700"/>
          <a:chExt cx="8229600" cy="4543425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C63432-6265-0E8C-3E1C-00DA47019244}"/>
              </a:ext>
            </a:extLst>
          </p:cNvPr>
          <p:cNvSpPr txBox="1"/>
          <p:nvPr/>
        </p:nvSpPr>
        <p:spPr>
          <a:xfrm>
            <a:off x="1828800" y="800942"/>
            <a:ext cx="14630400" cy="1107996"/>
          </a:xfrm>
          <a:prstGeom prst="rect">
            <a:avLst/>
          </a:prstGeom>
          <a:noFill/>
        </p:spPr>
        <p:txBody>
          <a:bodyPr vert="horz" lIns="182880" tIns="91440" rIns="182880" bIns="91440" rtlCol="0" anchor="t" anchorCtr="0">
            <a:spAutoFit/>
          </a:bodyPr>
          <a:lstStyle/>
          <a:p>
            <a:pPr fontAlgn="t"/>
            <a:r>
              <a:rPr lang="en-US" sz="5600" b="1" dirty="0">
                <a:solidFill>
                  <a:schemeClr val="bg1"/>
                </a:solidFill>
                <a:latin typeface="Arial"/>
              </a:rPr>
              <a:t>2- </a:t>
            </a:r>
            <a:r>
              <a:rPr lang="en-US" sz="6000" b="1" dirty="0">
                <a:solidFill>
                  <a:schemeClr val="bg1"/>
                </a:solidFill>
                <a:latin typeface="Arial"/>
              </a:rPr>
              <a:t>Training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395276-E018-335A-CA9D-5D2AE4D070B5}"/>
              </a:ext>
            </a:extLst>
          </p:cNvPr>
          <p:cNvSpPr txBox="1"/>
          <p:nvPr/>
        </p:nvSpPr>
        <p:spPr>
          <a:xfrm>
            <a:off x="1803400" y="2095500"/>
            <a:ext cx="15087600" cy="2031325"/>
          </a:xfrm>
          <a:prstGeom prst="rect">
            <a:avLst/>
          </a:prstGeom>
          <a:noFill/>
        </p:spPr>
        <p:txBody>
          <a:bodyPr vert="horz" wrap="square" lIns="182880" tIns="91440" rIns="182880" bIns="91440" rtlCol="0" anchorCtr="0">
            <a:spAutoFit/>
          </a:bodyPr>
          <a:lstStyle/>
          <a:p>
            <a:pPr fontAlgn="base"/>
            <a:r>
              <a:rPr lang="en-US" sz="4000" dirty="0">
                <a:solidFill>
                  <a:schemeClr val="bg1"/>
                </a:solidFill>
                <a:latin typeface="Arial"/>
              </a:rPr>
              <a:t>Now we begin to train the model, I used random forest because like I said before that there is outliers in our data and this type isn’t sensitive to it.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129E09-0DE8-346C-E4C9-F7E883928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517" y="5829300"/>
            <a:ext cx="10582965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8715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FAB88-CEC7-A522-B458-AC427B01173C}"/>
            </a:ext>
          </a:extLst>
        </p:cNvPr>
        <p:cNvGrpSpPr/>
        <p:nvPr/>
      </p:nvGrpSpPr>
      <p:grpSpPr>
        <a:xfrm>
          <a:off x="914400" y="1028700"/>
          <a:ext cx="8229600" cy="4543425"/>
          <a:chOff x="914400" y="1028700"/>
          <a:chExt cx="8229600" cy="4543425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1A9BD0-74FB-EAE9-426A-84605E1F7D64}"/>
              </a:ext>
            </a:extLst>
          </p:cNvPr>
          <p:cNvSpPr txBox="1"/>
          <p:nvPr/>
        </p:nvSpPr>
        <p:spPr>
          <a:xfrm>
            <a:off x="1828800" y="800942"/>
            <a:ext cx="14630400" cy="1107996"/>
          </a:xfrm>
          <a:prstGeom prst="rect">
            <a:avLst/>
          </a:prstGeom>
          <a:noFill/>
        </p:spPr>
        <p:txBody>
          <a:bodyPr vert="horz" lIns="182880" tIns="91440" rIns="182880" bIns="91440" rtlCol="0" anchor="t" anchorCtr="0">
            <a:spAutoFit/>
          </a:bodyPr>
          <a:lstStyle/>
          <a:p>
            <a:pPr fontAlgn="t"/>
            <a:r>
              <a:rPr lang="en-US" sz="5600" b="1" dirty="0">
                <a:solidFill>
                  <a:schemeClr val="bg1"/>
                </a:solidFill>
                <a:latin typeface="Arial"/>
              </a:rPr>
              <a:t>3- </a:t>
            </a:r>
            <a:r>
              <a:rPr lang="en-US" sz="6000" b="1" dirty="0">
                <a:solidFill>
                  <a:schemeClr val="bg1"/>
                </a:solidFill>
                <a:latin typeface="Arial"/>
              </a:rPr>
              <a:t>Evaluating the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227F3F-6949-E635-393D-E4D5A9C5E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910" y="2880917"/>
            <a:ext cx="7340600" cy="6324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C0E7C1-A5B0-0FC2-ECC4-CAD81FFBB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2880917"/>
            <a:ext cx="7373255" cy="632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4759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717D43-90F3-BE12-0074-287AD36B8821}"/>
              </a:ext>
            </a:extLst>
          </p:cNvPr>
          <p:cNvSpPr txBox="1"/>
          <p:nvPr/>
        </p:nvSpPr>
        <p:spPr>
          <a:xfrm>
            <a:off x="6172200" y="4543335"/>
            <a:ext cx="533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298" defTabSz="1029432">
              <a:spcBef>
                <a:spcPts val="113"/>
              </a:spcBef>
            </a:pPr>
            <a:r>
              <a:rPr lang="en-US" sz="7200" b="1" kern="0" dirty="0">
                <a:solidFill>
                  <a:schemeClr val="bg1"/>
                </a:solidFill>
                <a:latin typeface="Arial"/>
                <a:cs typeface="Arial"/>
              </a:rPr>
              <a:t>Thank</a:t>
            </a:r>
            <a:r>
              <a:rPr lang="en-US" sz="7200" b="1" kern="0" spc="-73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7200" b="1" kern="0" spc="-68" dirty="0">
                <a:solidFill>
                  <a:schemeClr val="bg1"/>
                </a:solidFill>
                <a:latin typeface="Arial"/>
                <a:cs typeface="Arial"/>
              </a:rPr>
              <a:t>You!</a:t>
            </a:r>
            <a:endParaRPr lang="en-US" sz="7200" kern="0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22714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</TotalTime>
  <Words>215</Words>
  <Application>Microsoft Office PowerPoint</Application>
  <PresentationFormat>Custom</PresentationFormat>
  <Paragraphs>59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Microsoft Sans Serif</vt:lpstr>
      <vt:lpstr>Aptos</vt:lpstr>
      <vt:lpstr>Arial</vt:lpstr>
      <vt:lpstr>Office Theme</vt:lpstr>
      <vt:lpstr>3_Office Theme</vt:lpstr>
      <vt:lpstr>Task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 Dashboard GUI Project (1).pptx</dc:title>
  <dc:creator>Mahmoud Walid</dc:creator>
  <cp:lastModifiedBy>Mohamed Ayman</cp:lastModifiedBy>
  <cp:revision>551</cp:revision>
  <dcterms:created xsi:type="dcterms:W3CDTF">2006-08-16T00:00:00Z</dcterms:created>
  <dcterms:modified xsi:type="dcterms:W3CDTF">2026-02-12T18:28:43Z</dcterms:modified>
  <dc:identifier>DAGrq5cUFqU</dc:identifier>
</cp:coreProperties>
</file>