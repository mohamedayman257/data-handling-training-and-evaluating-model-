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 id="2147483686" r:id="rId2"/>
  </p:sldMasterIdLst>
  <p:notesMasterIdLst>
    <p:notesMasterId r:id="rId18"/>
  </p:notesMasterIdLst>
  <p:sldIdLst>
    <p:sldId id="292" r:id="rId3"/>
    <p:sldId id="412" r:id="rId4"/>
    <p:sldId id="416" r:id="rId5"/>
    <p:sldId id="418" r:id="rId6"/>
    <p:sldId id="419" r:id="rId7"/>
    <p:sldId id="417" r:id="rId8"/>
    <p:sldId id="420" r:id="rId9"/>
    <p:sldId id="410" r:id="rId10"/>
    <p:sldId id="415" r:id="rId11"/>
    <p:sldId id="421" r:id="rId12"/>
    <p:sldId id="413" r:id="rId13"/>
    <p:sldId id="414" r:id="rId14"/>
    <p:sldId id="423" r:id="rId15"/>
    <p:sldId id="422" r:id="rId16"/>
    <p:sldId id="406" r:id="rId17"/>
  </p:sldIdLst>
  <p:sldSz cx="18288000" cy="10287000"/>
  <p:notesSz cx="6858000" cy="9144000"/>
  <p:embeddedFontLst>
    <p:embeddedFont>
      <p:font typeface="Microsoft Sans Serif" panose="020B0604020202020204" pitchFamily="34" charset="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9820BE1-F381-482D-9761-3F31B98BA4C8}" v="3" dt="2026-02-13T19:08:38.332"/>
  </p1510:revLst>
</p1510:revInfo>
</file>

<file path=ppt/tableStyles.xml><?xml version="1.0" encoding="utf-8"?>
<a:tblStyleLst xmlns:a="http://schemas.openxmlformats.org/drawingml/2006/main" def="{5C22544A-7EE6-4342-B048-85BDC9FD1C3A}">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382" autoAdjust="0"/>
    <p:restoredTop sz="91525" autoAdjust="0"/>
  </p:normalViewPr>
  <p:slideViewPr>
    <p:cSldViewPr>
      <p:cViewPr varScale="1">
        <p:scale>
          <a:sx n="42" d="100"/>
          <a:sy n="42" d="100"/>
        </p:scale>
        <p:origin x="1086" y="6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font" Target="fonts/font1.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a shawqi" userId="a1276615a77d82b4" providerId="LiveId" clId="{3213D334-DE89-4442-BF8F-19B7D425B899}"/>
    <pc:docChg chg="custSel modSld sldOrd">
      <pc:chgData name="nora shawqi" userId="a1276615a77d82b4" providerId="LiveId" clId="{3213D334-DE89-4442-BF8F-19B7D425B899}" dt="2026-02-13T19:08:57.724" v="19" actId="14100"/>
      <pc:docMkLst>
        <pc:docMk/>
      </pc:docMkLst>
      <pc:sldChg chg="addSp delSp modSp mod ord">
        <pc:chgData name="nora shawqi" userId="a1276615a77d82b4" providerId="LiveId" clId="{3213D334-DE89-4442-BF8F-19B7D425B899}" dt="2026-02-13T19:08:57.724" v="19" actId="14100"/>
        <pc:sldMkLst>
          <pc:docMk/>
          <pc:sldMk cId="3685948760" sldId="422"/>
        </pc:sldMkLst>
        <pc:spChg chg="mod">
          <ac:chgData name="nora shawqi" userId="a1276615a77d82b4" providerId="LiveId" clId="{3213D334-DE89-4442-BF8F-19B7D425B899}" dt="2026-02-13T19:06:20.926" v="3" actId="207"/>
          <ac:spMkLst>
            <pc:docMk/>
            <pc:sldMk cId="3685948760" sldId="422"/>
            <ac:spMk id="2" creationId="{4F3DBB35-63D4-E42B-B7D5-25BC50C322DE}"/>
          </ac:spMkLst>
        </pc:spChg>
        <pc:spChg chg="mod">
          <ac:chgData name="nora shawqi" userId="a1276615a77d82b4" providerId="LiveId" clId="{3213D334-DE89-4442-BF8F-19B7D425B899}" dt="2026-02-13T19:08:57.724" v="19" actId="14100"/>
          <ac:spMkLst>
            <pc:docMk/>
            <pc:sldMk cId="3685948760" sldId="422"/>
            <ac:spMk id="3" creationId="{887805FE-D7B8-27DF-FB93-1F1C36405E78}"/>
          </ac:spMkLst>
        </pc:spChg>
        <pc:picChg chg="add del mod">
          <ac:chgData name="nora shawqi" userId="a1276615a77d82b4" providerId="LiveId" clId="{3213D334-DE89-4442-BF8F-19B7D425B899}" dt="2026-02-13T19:07:04.012" v="6" actId="478"/>
          <ac:picMkLst>
            <pc:docMk/>
            <pc:sldMk cId="3685948760" sldId="422"/>
            <ac:picMk id="4" creationId="{6CC0CB8C-09D9-B5D8-AE97-90745B0B7E96}"/>
          </ac:picMkLst>
        </pc:picChg>
        <pc:picChg chg="add mod">
          <ac:chgData name="nora shawqi" userId="a1276615a77d82b4" providerId="LiveId" clId="{3213D334-DE89-4442-BF8F-19B7D425B899}" dt="2026-02-13T19:07:19.802" v="9" actId="1076"/>
          <ac:picMkLst>
            <pc:docMk/>
            <pc:sldMk cId="3685948760" sldId="422"/>
            <ac:picMk id="6" creationId="{1F9E998E-E28A-995A-463D-98A5E3615903}"/>
          </ac:picMkLst>
        </pc:picChg>
        <pc:picChg chg="del">
          <ac:chgData name="nora shawqi" userId="a1276615a77d82b4" providerId="LiveId" clId="{3213D334-DE89-4442-BF8F-19B7D425B899}" dt="2026-02-13T19:06:58.488" v="4" actId="21"/>
          <ac:picMkLst>
            <pc:docMk/>
            <pc:sldMk cId="3685948760" sldId="422"/>
            <ac:picMk id="7" creationId="{6CC0CB8C-09D9-B5D8-AE97-90745B0B7E9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10FD0A-FE2C-46EB-8177-9AF94D7ECF8D}" type="datetimeFigureOut">
              <a:rPr lang="en-US" smtClean="0"/>
              <a:t>2/13/2026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C852AE-1133-4F73-BBBB-3885EE74702A}" type="slidenum">
              <a:rPr lang="en-US" smtClean="0"/>
              <a:t>‹#›</a:t>
            </a:fld>
            <a:endParaRPr lang="en-US"/>
          </a:p>
        </p:txBody>
      </p:sp>
    </p:spTree>
    <p:extLst>
      <p:ext uri="{BB962C8B-B14F-4D97-AF65-F5344CB8AC3E}">
        <p14:creationId xmlns:p14="http://schemas.microsoft.com/office/powerpoint/2010/main" val="584085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47E1FCE-83C8-4B59-AA4D-5DEA2FE13ED4}" type="slidenum">
              <a:rPr lang="en-US" smtClean="0"/>
              <a:t>1</a:t>
            </a:fld>
            <a:endParaRPr lang="en-US"/>
          </a:p>
        </p:txBody>
      </p:sp>
    </p:spTree>
    <p:extLst>
      <p:ext uri="{BB962C8B-B14F-4D97-AF65-F5344CB8AC3E}">
        <p14:creationId xmlns:p14="http://schemas.microsoft.com/office/powerpoint/2010/main" val="36611155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64731115"/>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561558" y="478964"/>
            <a:ext cx="7164884" cy="467760"/>
          </a:xfrm>
          <a:prstGeom prst="rect">
            <a:avLst/>
          </a:prstGeom>
        </p:spPr>
        <p:txBody>
          <a:bodyPr wrap="square" lIns="0" tIns="0" rIns="0" bIns="0">
            <a:spAutoFit/>
          </a:bodyPr>
          <a:lstStyle>
            <a:lvl1pPr>
              <a:defRPr sz="3040" b="0" i="0">
                <a:solidFill>
                  <a:srgbClr val="007BFF"/>
                </a:solidFill>
                <a:latin typeface="Microsoft Sans Serif"/>
                <a:cs typeface="Microsoft Sans Serif"/>
              </a:defRPr>
            </a:lvl1pPr>
          </a:lstStyle>
          <a:p>
            <a:endParaRPr/>
          </a:p>
        </p:txBody>
      </p:sp>
      <p:sp>
        <p:nvSpPr>
          <p:cNvPr id="3" name="Holder 3"/>
          <p:cNvSpPr>
            <a:spLocks noGrp="1"/>
          </p:cNvSpPr>
          <p:nvPr>
            <p:ph type="subTitle" idx="4"/>
          </p:nvPr>
        </p:nvSpPr>
        <p:spPr>
          <a:xfrm>
            <a:off x="2743200" y="4847973"/>
            <a:ext cx="12801600" cy="311840"/>
          </a:xfrm>
          <a:prstGeom prst="rect">
            <a:avLst/>
          </a:prstGeom>
        </p:spPr>
        <p:txBody>
          <a:bodyPr wrap="square" lIns="0" tIns="0" rIns="0" bIns="0">
            <a:spAutoFit/>
          </a:bodyPr>
          <a:lstStyle>
            <a:lvl1pPr>
              <a:defRPr sz="2026" b="0" i="0">
                <a:solidFill>
                  <a:srgbClr val="6B747D"/>
                </a:solidFill>
                <a:latin typeface="Microsoft Sans Serif"/>
                <a:cs typeface="Microsoft Sans Serif"/>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2/13/2026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534182755"/>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377204" y="446795"/>
            <a:ext cx="13533595" cy="467820"/>
          </a:xfrm>
        </p:spPr>
        <p:txBody>
          <a:bodyPr lIns="0" tIns="0" rIns="0" bIns="0"/>
          <a:lstStyle>
            <a:lvl1pPr>
              <a:defRPr sz="3040" b="0" i="0">
                <a:solidFill>
                  <a:srgbClr val="007BFF"/>
                </a:solidFill>
                <a:latin typeface="Microsoft Sans Serif"/>
                <a:cs typeface="Microsoft Sans Serif"/>
              </a:defRPr>
            </a:lvl1pPr>
          </a:lstStyle>
          <a:p>
            <a:endParaRPr/>
          </a:p>
        </p:txBody>
      </p:sp>
      <p:sp>
        <p:nvSpPr>
          <p:cNvPr id="3" name="Holder 3"/>
          <p:cNvSpPr>
            <a:spLocks noGrp="1"/>
          </p:cNvSpPr>
          <p:nvPr>
            <p:ph type="body" idx="1"/>
          </p:nvPr>
        </p:nvSpPr>
        <p:spPr>
          <a:xfrm>
            <a:off x="838200" y="1592018"/>
            <a:ext cx="8018145" cy="311752"/>
          </a:xfrm>
        </p:spPr>
        <p:txBody>
          <a:bodyPr lIns="0" tIns="0" rIns="0" bIns="0"/>
          <a:lstStyle>
            <a:lvl1pPr>
              <a:defRPr sz="2026" b="0" i="0">
                <a:solidFill>
                  <a:srgbClr val="6B747D"/>
                </a:solidFill>
                <a:latin typeface="Microsoft Sans Serif"/>
                <a:cs typeface="Microsoft Sans Serif"/>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2/13/2026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821742264"/>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377204" y="446795"/>
            <a:ext cx="13533595" cy="467820"/>
          </a:xfrm>
        </p:spPr>
        <p:txBody>
          <a:bodyPr lIns="0" tIns="0" rIns="0" bIns="0"/>
          <a:lstStyle>
            <a:lvl1pPr>
              <a:defRPr sz="3040" b="0" i="0">
                <a:solidFill>
                  <a:srgbClr val="007BFF"/>
                </a:solidFill>
                <a:latin typeface="Microsoft Sans Serif"/>
                <a:cs typeface="Microsoft Sans Serif"/>
              </a:defRPr>
            </a:lvl1pPr>
          </a:lstStyle>
          <a:p>
            <a:endParaRPr/>
          </a:p>
        </p:txBody>
      </p:sp>
      <p:sp>
        <p:nvSpPr>
          <p:cNvPr id="3" name="Holder 3"/>
          <p:cNvSpPr>
            <a:spLocks noGrp="1"/>
          </p:cNvSpPr>
          <p:nvPr>
            <p:ph sz="half" idx="2"/>
          </p:nvPr>
        </p:nvSpPr>
        <p:spPr>
          <a:xfrm>
            <a:off x="914401" y="1991133"/>
            <a:ext cx="795528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9418319" y="1991133"/>
            <a:ext cx="795528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2/13/2026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862153589"/>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377204" y="446795"/>
            <a:ext cx="13533595" cy="467820"/>
          </a:xfrm>
        </p:spPr>
        <p:txBody>
          <a:bodyPr lIns="0" tIns="0" rIns="0" bIns="0"/>
          <a:lstStyle>
            <a:lvl1pPr>
              <a:defRPr sz="3040" b="0" i="0">
                <a:solidFill>
                  <a:srgbClr val="007BFF"/>
                </a:solidFill>
                <a:latin typeface="Microsoft Sans Serif"/>
                <a:cs typeface="Microsoft Sans Serif"/>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2/13/2026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18026969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2/13/2026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22268386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15.xml"/><Relationship Id="rId7" Type="http://schemas.openxmlformats.org/officeDocument/2006/relationships/image" Target="../media/image1.png"/><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theme" Target="../theme/theme2.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bg1"/>
                </a:solidFill>
              </a:defRPr>
            </a:lvl1pPr>
          </a:lstStyle>
          <a:p>
            <a:fld id="{1D8BD707-D9CF-40AE-B4C6-C98DA3205C09}" type="datetimeFigureOut">
              <a:rPr lang="en-US" smtClean="0"/>
              <a:pPr/>
              <a:t>2/13/2026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bg1"/>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bg1"/>
                </a:solidFill>
              </a:defRPr>
            </a:lvl1pPr>
          </a:lstStyle>
          <a:p>
            <a:fld id="{B6F15528-21DE-4FAA-801E-634DDDAF4B2B}" type="slidenum">
              <a:rPr lang="en-US" smtClean="0"/>
              <a:pPr/>
              <a:t>‹#›</a:t>
            </a:fld>
            <a:endParaRPr lang="en-US"/>
          </a:p>
        </p:txBody>
      </p:sp>
      <p:grpSp>
        <p:nvGrpSpPr>
          <p:cNvPr id="7" name="Group 2">
            <a:extLst>
              <a:ext uri="{FF2B5EF4-FFF2-40B4-BE49-F238E27FC236}">
                <a16:creationId xmlns:a16="http://schemas.microsoft.com/office/drawing/2014/main" id="{A3E7A03E-3088-EAC1-A3FA-545EEC0DAD67}"/>
              </a:ext>
            </a:extLst>
          </p:cNvPr>
          <p:cNvGrpSpPr>
            <a:grpSpLocks noChangeAspect="1"/>
          </p:cNvGrpSpPr>
          <p:nvPr userDrawn="1"/>
        </p:nvGrpSpPr>
        <p:grpSpPr>
          <a:xfrm rot="5400000">
            <a:off x="3952080" y="-4090320"/>
            <a:ext cx="10365840" cy="18475200"/>
            <a:chOff x="0" y="0"/>
            <a:chExt cx="13821120" cy="24633600"/>
          </a:xfrm>
        </p:grpSpPr>
        <p:sp>
          <p:nvSpPr>
            <p:cNvPr id="8" name="Freeform 3">
              <a:extLst>
                <a:ext uri="{FF2B5EF4-FFF2-40B4-BE49-F238E27FC236}">
                  <a16:creationId xmlns:a16="http://schemas.microsoft.com/office/drawing/2014/main" id="{B2E2994E-3F9A-8910-A665-ED7E3A7B95D8}"/>
                </a:ext>
              </a:extLst>
            </p:cNvPr>
            <p:cNvSpPr/>
            <p:nvPr/>
          </p:nvSpPr>
          <p:spPr>
            <a:xfrm>
              <a:off x="0" y="0"/>
              <a:ext cx="13821156" cy="24633555"/>
            </a:xfrm>
            <a:custGeom>
              <a:avLst/>
              <a:gdLst/>
              <a:ahLst/>
              <a:cxnLst/>
              <a:rect l="l" t="t" r="r" b="b"/>
              <a:pathLst>
                <a:path w="13821156" h="24633555">
                  <a:moveTo>
                    <a:pt x="0" y="0"/>
                  </a:moveTo>
                  <a:lnTo>
                    <a:pt x="13821156" y="0"/>
                  </a:lnTo>
                  <a:lnTo>
                    <a:pt x="13821156" y="24633555"/>
                  </a:lnTo>
                  <a:lnTo>
                    <a:pt x="0" y="24633555"/>
                  </a:lnTo>
                  <a:lnTo>
                    <a:pt x="0" y="0"/>
                  </a:lnTo>
                  <a:close/>
                </a:path>
              </a:pathLst>
            </a:custGeom>
            <a:blipFill>
              <a:blip r:embed="rId14"/>
              <a:stretch>
                <a:fillRect l="-6873" t="-1350" r="-225516" b="-3533"/>
              </a:stretch>
            </a:blipFill>
          </p:spPr>
          <p:txBody>
            <a:bodyPr/>
            <a:lstStyle/>
            <a:p>
              <a:endParaRPr lang="en-US">
                <a:solidFill>
                  <a:schemeClr val="bg1"/>
                </a:solidFill>
              </a:endParaRPr>
            </a:p>
          </p:txBody>
        </p:sp>
      </p:grpSp>
      <p:grpSp>
        <p:nvGrpSpPr>
          <p:cNvPr id="9" name="Group 4">
            <a:extLst>
              <a:ext uri="{FF2B5EF4-FFF2-40B4-BE49-F238E27FC236}">
                <a16:creationId xmlns:a16="http://schemas.microsoft.com/office/drawing/2014/main" id="{7ACEEF43-C46A-29F3-B304-1FF7DBB78922}"/>
              </a:ext>
            </a:extLst>
          </p:cNvPr>
          <p:cNvGrpSpPr>
            <a:grpSpLocks noChangeAspect="1"/>
          </p:cNvGrpSpPr>
          <p:nvPr userDrawn="1"/>
        </p:nvGrpSpPr>
        <p:grpSpPr>
          <a:xfrm rot="5400000">
            <a:off x="4410367" y="-4041361"/>
            <a:ext cx="10275840" cy="18287280"/>
            <a:chOff x="0" y="0"/>
            <a:chExt cx="13701120" cy="24383040"/>
          </a:xfrm>
        </p:grpSpPr>
        <p:sp>
          <p:nvSpPr>
            <p:cNvPr id="10" name="Freeform 5">
              <a:extLst>
                <a:ext uri="{FF2B5EF4-FFF2-40B4-BE49-F238E27FC236}">
                  <a16:creationId xmlns:a16="http://schemas.microsoft.com/office/drawing/2014/main" id="{C2FD59E4-F1B0-DA3E-456F-060661799F98}"/>
                </a:ext>
              </a:extLst>
            </p:cNvPr>
            <p:cNvSpPr/>
            <p:nvPr/>
          </p:nvSpPr>
          <p:spPr>
            <a:xfrm>
              <a:off x="0" y="0"/>
              <a:ext cx="13701140" cy="24382985"/>
            </a:xfrm>
            <a:custGeom>
              <a:avLst/>
              <a:gdLst/>
              <a:ahLst/>
              <a:cxnLst/>
              <a:rect l="l" t="t" r="r" b="b"/>
              <a:pathLst>
                <a:path w="13701140" h="24382985">
                  <a:moveTo>
                    <a:pt x="0" y="0"/>
                  </a:moveTo>
                  <a:lnTo>
                    <a:pt x="13701140" y="0"/>
                  </a:lnTo>
                  <a:lnTo>
                    <a:pt x="13701140" y="24382985"/>
                  </a:lnTo>
                  <a:lnTo>
                    <a:pt x="0" y="24382985"/>
                  </a:lnTo>
                  <a:lnTo>
                    <a:pt x="0" y="0"/>
                  </a:lnTo>
                  <a:close/>
                </a:path>
              </a:pathLst>
            </a:custGeom>
            <a:blipFill>
              <a:blip r:embed="rId15">
                <a:alphaModFix amt="50000"/>
              </a:blip>
              <a:stretch>
                <a:fillRect l="-16966" t="-3901" r="-46200" b="52337"/>
              </a:stretch>
            </a:blipFill>
          </p:spPr>
          <p:txBody>
            <a:bodyPr/>
            <a:lstStyle/>
            <a:p>
              <a:endParaRPr lang="en-US">
                <a:solidFill>
                  <a:schemeClr val="bg1"/>
                </a:solidFill>
              </a:endParaRPr>
            </a:p>
          </p:txBody>
        </p:sp>
      </p:gr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xStyles>
    <p:titleStyle>
      <a:lvl1pPr algn="ctr" defTabSz="914400" rtl="0" eaLnBrk="1" latinLnBrk="0" hangingPunct="1">
        <a:spcBef>
          <a:spcPct val="0"/>
        </a:spcBef>
        <a:buNone/>
        <a:defRPr sz="4400" kern="1200">
          <a:solidFill>
            <a:schemeClr val="bg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bg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bg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bg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377204" y="446795"/>
            <a:ext cx="13533595" cy="415498"/>
          </a:xfrm>
          <a:prstGeom prst="rect">
            <a:avLst/>
          </a:prstGeom>
        </p:spPr>
        <p:txBody>
          <a:bodyPr wrap="square" lIns="0" tIns="0" rIns="0" bIns="0">
            <a:spAutoFit/>
          </a:bodyPr>
          <a:lstStyle>
            <a:lvl1pPr>
              <a:defRPr sz="2700" b="0" i="0">
                <a:solidFill>
                  <a:srgbClr val="007BFF"/>
                </a:solidFill>
                <a:latin typeface="Microsoft Sans Serif"/>
                <a:cs typeface="Microsoft Sans Serif"/>
              </a:defRPr>
            </a:lvl1pPr>
          </a:lstStyle>
          <a:p>
            <a:endParaRPr/>
          </a:p>
        </p:txBody>
      </p:sp>
      <p:sp>
        <p:nvSpPr>
          <p:cNvPr id="3" name="Holder 3"/>
          <p:cNvSpPr>
            <a:spLocks noGrp="1"/>
          </p:cNvSpPr>
          <p:nvPr>
            <p:ph type="body" idx="1"/>
          </p:nvPr>
        </p:nvSpPr>
        <p:spPr>
          <a:xfrm>
            <a:off x="838200" y="1592018"/>
            <a:ext cx="8018145" cy="276999"/>
          </a:xfrm>
          <a:prstGeom prst="rect">
            <a:avLst/>
          </a:prstGeom>
        </p:spPr>
        <p:txBody>
          <a:bodyPr wrap="square" lIns="0" tIns="0" rIns="0" bIns="0">
            <a:spAutoFit/>
          </a:bodyPr>
          <a:lstStyle>
            <a:lvl1pPr>
              <a:defRPr sz="1800" b="0" i="0">
                <a:solidFill>
                  <a:srgbClr val="6B747D"/>
                </a:solidFill>
                <a:latin typeface="Microsoft Sans Serif"/>
                <a:cs typeface="Microsoft Sans Serif"/>
              </a:defRPr>
            </a:lvl1pPr>
          </a:lstStyle>
          <a:p>
            <a:endParaRPr/>
          </a:p>
        </p:txBody>
      </p:sp>
      <p:sp>
        <p:nvSpPr>
          <p:cNvPr id="4" name="Holder 4"/>
          <p:cNvSpPr>
            <a:spLocks noGrp="1"/>
          </p:cNvSpPr>
          <p:nvPr>
            <p:ph type="ftr" sz="quarter" idx="5"/>
          </p:nvPr>
        </p:nvSpPr>
        <p:spPr>
          <a:xfrm>
            <a:off x="6217920" y="8051097"/>
            <a:ext cx="58521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914401" y="8051097"/>
            <a:ext cx="42062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2/13/2026</a:t>
            </a:fld>
            <a:endParaRPr lang="en-US"/>
          </a:p>
        </p:txBody>
      </p:sp>
      <p:sp>
        <p:nvSpPr>
          <p:cNvPr id="6" name="Holder 6"/>
          <p:cNvSpPr>
            <a:spLocks noGrp="1"/>
          </p:cNvSpPr>
          <p:nvPr>
            <p:ph type="sldNum" sz="quarter" idx="7"/>
          </p:nvPr>
        </p:nvSpPr>
        <p:spPr>
          <a:xfrm>
            <a:off x="13167359" y="8051097"/>
            <a:ext cx="42062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grpSp>
        <p:nvGrpSpPr>
          <p:cNvPr id="7" name="Group 2">
            <a:extLst>
              <a:ext uri="{FF2B5EF4-FFF2-40B4-BE49-F238E27FC236}">
                <a16:creationId xmlns:a16="http://schemas.microsoft.com/office/drawing/2014/main" id="{3C8A7296-5216-7841-2C54-19817BE343F6}"/>
              </a:ext>
            </a:extLst>
          </p:cNvPr>
          <p:cNvGrpSpPr>
            <a:grpSpLocks noChangeAspect="1"/>
          </p:cNvGrpSpPr>
          <p:nvPr userDrawn="1"/>
        </p:nvGrpSpPr>
        <p:grpSpPr>
          <a:xfrm rot="5400000">
            <a:off x="3952080" y="-4090320"/>
            <a:ext cx="10365840" cy="18475200"/>
            <a:chOff x="0" y="0"/>
            <a:chExt cx="13821120" cy="24633600"/>
          </a:xfrm>
        </p:grpSpPr>
        <p:sp>
          <p:nvSpPr>
            <p:cNvPr id="8" name="Freeform 3">
              <a:extLst>
                <a:ext uri="{FF2B5EF4-FFF2-40B4-BE49-F238E27FC236}">
                  <a16:creationId xmlns:a16="http://schemas.microsoft.com/office/drawing/2014/main" id="{3D040302-4E46-68AA-4A2D-AC239287434F}"/>
                </a:ext>
              </a:extLst>
            </p:cNvPr>
            <p:cNvSpPr/>
            <p:nvPr/>
          </p:nvSpPr>
          <p:spPr>
            <a:xfrm>
              <a:off x="0" y="0"/>
              <a:ext cx="13821156" cy="24633555"/>
            </a:xfrm>
            <a:custGeom>
              <a:avLst/>
              <a:gdLst/>
              <a:ahLst/>
              <a:cxnLst/>
              <a:rect l="l" t="t" r="r" b="b"/>
              <a:pathLst>
                <a:path w="13821156" h="24633555">
                  <a:moveTo>
                    <a:pt x="0" y="0"/>
                  </a:moveTo>
                  <a:lnTo>
                    <a:pt x="13821156" y="0"/>
                  </a:lnTo>
                  <a:lnTo>
                    <a:pt x="13821156" y="24633555"/>
                  </a:lnTo>
                  <a:lnTo>
                    <a:pt x="0" y="24633555"/>
                  </a:lnTo>
                  <a:lnTo>
                    <a:pt x="0" y="0"/>
                  </a:lnTo>
                  <a:close/>
                </a:path>
              </a:pathLst>
            </a:custGeom>
            <a:blipFill>
              <a:blip r:embed="rId7"/>
              <a:stretch>
                <a:fillRect l="-6873" t="-1350" r="-225516" b="-3533"/>
              </a:stretch>
            </a:blipFill>
          </p:spPr>
          <p:txBody>
            <a:bodyPr/>
            <a:lstStyle/>
            <a:p>
              <a:endParaRPr lang="en-US">
                <a:latin typeface="Calibri" panose="020F0502020204030204" pitchFamily="34" charset="0"/>
                <a:cs typeface="Calibri" panose="020F0502020204030204" pitchFamily="34" charset="0"/>
              </a:endParaRPr>
            </a:p>
          </p:txBody>
        </p:sp>
      </p:grpSp>
      <p:grpSp>
        <p:nvGrpSpPr>
          <p:cNvPr id="9" name="Group 4">
            <a:extLst>
              <a:ext uri="{FF2B5EF4-FFF2-40B4-BE49-F238E27FC236}">
                <a16:creationId xmlns:a16="http://schemas.microsoft.com/office/drawing/2014/main" id="{DC361283-B4A7-5104-ECDB-3AB048127D8A}"/>
              </a:ext>
            </a:extLst>
          </p:cNvPr>
          <p:cNvGrpSpPr>
            <a:grpSpLocks noChangeAspect="1"/>
          </p:cNvGrpSpPr>
          <p:nvPr userDrawn="1"/>
        </p:nvGrpSpPr>
        <p:grpSpPr>
          <a:xfrm rot="5400000">
            <a:off x="4410367" y="-4041361"/>
            <a:ext cx="10275840" cy="18287280"/>
            <a:chOff x="0" y="0"/>
            <a:chExt cx="13701120" cy="24383040"/>
          </a:xfrm>
        </p:grpSpPr>
        <p:sp>
          <p:nvSpPr>
            <p:cNvPr id="10" name="Freeform 5">
              <a:extLst>
                <a:ext uri="{FF2B5EF4-FFF2-40B4-BE49-F238E27FC236}">
                  <a16:creationId xmlns:a16="http://schemas.microsoft.com/office/drawing/2014/main" id="{1F277D9C-9246-458C-B958-529DBC6B613E}"/>
                </a:ext>
              </a:extLst>
            </p:cNvPr>
            <p:cNvSpPr/>
            <p:nvPr/>
          </p:nvSpPr>
          <p:spPr>
            <a:xfrm>
              <a:off x="0" y="0"/>
              <a:ext cx="13701140" cy="24382985"/>
            </a:xfrm>
            <a:custGeom>
              <a:avLst/>
              <a:gdLst/>
              <a:ahLst/>
              <a:cxnLst/>
              <a:rect l="l" t="t" r="r" b="b"/>
              <a:pathLst>
                <a:path w="13701140" h="24382985">
                  <a:moveTo>
                    <a:pt x="0" y="0"/>
                  </a:moveTo>
                  <a:lnTo>
                    <a:pt x="13701140" y="0"/>
                  </a:lnTo>
                  <a:lnTo>
                    <a:pt x="13701140" y="24382985"/>
                  </a:lnTo>
                  <a:lnTo>
                    <a:pt x="0" y="24382985"/>
                  </a:lnTo>
                  <a:lnTo>
                    <a:pt x="0" y="0"/>
                  </a:lnTo>
                  <a:close/>
                </a:path>
              </a:pathLst>
            </a:custGeom>
            <a:blipFill>
              <a:blip r:embed="rId8">
                <a:alphaModFix amt="50000"/>
              </a:blip>
              <a:stretch>
                <a:fillRect l="-16966" t="-3901" r="-46200" b="52337"/>
              </a:stretch>
            </a:blipFill>
          </p:spPr>
          <p:txBody>
            <a:bodyPr/>
            <a:lstStyle/>
            <a:p>
              <a:endParaRPr lang="en-US">
                <a:latin typeface="Calibri" panose="020F0502020204030204" pitchFamily="34" charset="0"/>
                <a:cs typeface="Calibri" panose="020F0502020204030204" pitchFamily="34" charset="0"/>
              </a:endParaRPr>
            </a:p>
          </p:txBody>
        </p:sp>
      </p:grpSp>
    </p:spTree>
    <p:extLst>
      <p:ext uri="{BB962C8B-B14F-4D97-AF65-F5344CB8AC3E}">
        <p14:creationId xmlns:p14="http://schemas.microsoft.com/office/powerpoint/2010/main" val="672562378"/>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Lst>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xStyles>
    <p:titleStyle>
      <a:lvl1pPr>
        <a:defRPr>
          <a:latin typeface="+mj-lt"/>
          <a:ea typeface="+mj-ea"/>
          <a:cs typeface="+mj-cs"/>
        </a:defRPr>
      </a:lvl1pPr>
    </p:titleStyle>
    <p:bodyStyle>
      <a:lvl1pPr marL="0">
        <a:defRPr>
          <a:latin typeface="+mn-lt"/>
          <a:ea typeface="+mn-ea"/>
          <a:cs typeface="+mn-cs"/>
        </a:defRPr>
      </a:lvl1pPr>
      <a:lvl2pPr marL="514716">
        <a:defRPr>
          <a:latin typeface="+mn-lt"/>
          <a:ea typeface="+mn-ea"/>
          <a:cs typeface="+mn-cs"/>
        </a:defRPr>
      </a:lvl2pPr>
      <a:lvl3pPr marL="1029432">
        <a:defRPr>
          <a:latin typeface="+mn-lt"/>
          <a:ea typeface="+mn-ea"/>
          <a:cs typeface="+mn-cs"/>
        </a:defRPr>
      </a:lvl3pPr>
      <a:lvl4pPr marL="1544147">
        <a:defRPr>
          <a:latin typeface="+mn-lt"/>
          <a:ea typeface="+mn-ea"/>
          <a:cs typeface="+mn-cs"/>
        </a:defRPr>
      </a:lvl4pPr>
      <a:lvl5pPr marL="2058863">
        <a:defRPr>
          <a:latin typeface="+mn-lt"/>
          <a:ea typeface="+mn-ea"/>
          <a:cs typeface="+mn-cs"/>
        </a:defRPr>
      </a:lvl5pPr>
      <a:lvl6pPr marL="2573579">
        <a:defRPr>
          <a:latin typeface="+mn-lt"/>
          <a:ea typeface="+mn-ea"/>
          <a:cs typeface="+mn-cs"/>
        </a:defRPr>
      </a:lvl6pPr>
      <a:lvl7pPr marL="3088295">
        <a:defRPr>
          <a:latin typeface="+mn-lt"/>
          <a:ea typeface="+mn-ea"/>
          <a:cs typeface="+mn-cs"/>
        </a:defRPr>
      </a:lvl7pPr>
      <a:lvl8pPr marL="3603010">
        <a:defRPr>
          <a:latin typeface="+mn-lt"/>
          <a:ea typeface="+mn-ea"/>
          <a:cs typeface="+mn-cs"/>
        </a:defRPr>
      </a:lvl8pPr>
      <a:lvl9pPr marL="4117726">
        <a:defRPr>
          <a:latin typeface="+mn-lt"/>
          <a:ea typeface="+mn-ea"/>
          <a:cs typeface="+mn-cs"/>
        </a:defRPr>
      </a:lvl9pPr>
    </p:bodyStyle>
    <p:otherStyle>
      <a:lvl1pPr marL="0">
        <a:defRPr>
          <a:latin typeface="+mn-lt"/>
          <a:ea typeface="+mn-ea"/>
          <a:cs typeface="+mn-cs"/>
        </a:defRPr>
      </a:lvl1pPr>
      <a:lvl2pPr marL="514716">
        <a:defRPr>
          <a:latin typeface="+mn-lt"/>
          <a:ea typeface="+mn-ea"/>
          <a:cs typeface="+mn-cs"/>
        </a:defRPr>
      </a:lvl2pPr>
      <a:lvl3pPr marL="1029432">
        <a:defRPr>
          <a:latin typeface="+mn-lt"/>
          <a:ea typeface="+mn-ea"/>
          <a:cs typeface="+mn-cs"/>
        </a:defRPr>
      </a:lvl3pPr>
      <a:lvl4pPr marL="1544147">
        <a:defRPr>
          <a:latin typeface="+mn-lt"/>
          <a:ea typeface="+mn-ea"/>
          <a:cs typeface="+mn-cs"/>
        </a:defRPr>
      </a:lvl4pPr>
      <a:lvl5pPr marL="2058863">
        <a:defRPr>
          <a:latin typeface="+mn-lt"/>
          <a:ea typeface="+mn-ea"/>
          <a:cs typeface="+mn-cs"/>
        </a:defRPr>
      </a:lvl5pPr>
      <a:lvl6pPr marL="2573579">
        <a:defRPr>
          <a:latin typeface="+mn-lt"/>
          <a:ea typeface="+mn-ea"/>
          <a:cs typeface="+mn-cs"/>
        </a:defRPr>
      </a:lvl6pPr>
      <a:lvl7pPr marL="3088295">
        <a:defRPr>
          <a:latin typeface="+mn-lt"/>
          <a:ea typeface="+mn-ea"/>
          <a:cs typeface="+mn-cs"/>
        </a:defRPr>
      </a:lvl7pPr>
      <a:lvl8pPr marL="3603010">
        <a:defRPr>
          <a:latin typeface="+mn-lt"/>
          <a:ea typeface="+mn-ea"/>
          <a:cs typeface="+mn-cs"/>
        </a:defRPr>
      </a:lvl8pPr>
      <a:lvl9pPr marL="4117726">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914400" y="1543050"/>
          <a:ext cx="8229600" cy="3257550"/>
          <a:chOff x="914400" y="1543050"/>
          <a:chExt cx="8229600" cy="3257550"/>
        </a:xfrm>
      </p:grpSpPr>
      <p:sp>
        <p:nvSpPr>
          <p:cNvPr id="2" name="TextBox 1"/>
          <p:cNvSpPr txBox="1"/>
          <p:nvPr/>
        </p:nvSpPr>
        <p:spPr>
          <a:xfrm>
            <a:off x="6010275" y="8267700"/>
            <a:ext cx="6267450" cy="1169551"/>
          </a:xfrm>
          <a:prstGeom prst="rect">
            <a:avLst/>
          </a:prstGeom>
          <a:noFill/>
        </p:spPr>
        <p:txBody>
          <a:bodyPr vert="horz" wrap="square" lIns="182880" tIns="91440" rIns="182880" bIns="91440" rtlCol="0" anchor="t" anchorCtr="0">
            <a:spAutoFit/>
          </a:bodyPr>
          <a:lstStyle/>
          <a:p>
            <a:pPr algn="ctr" fontAlgn="t"/>
            <a:r>
              <a:rPr lang="en-US" sz="3200" b="1" dirty="0">
                <a:solidFill>
                  <a:schemeClr val="bg1"/>
                </a:solidFill>
                <a:latin typeface="Arial"/>
              </a:rPr>
              <a:t>Mohamed Ayman</a:t>
            </a:r>
          </a:p>
          <a:p>
            <a:pPr algn="ctr" fontAlgn="t"/>
            <a:r>
              <a:rPr lang="en-US" sz="3200" b="1" dirty="0">
                <a:solidFill>
                  <a:schemeClr val="bg1"/>
                </a:solidFill>
                <a:latin typeface="Arial"/>
              </a:rPr>
              <a:t>Nora shawqi </a:t>
            </a:r>
          </a:p>
        </p:txBody>
      </p:sp>
      <p:sp>
        <p:nvSpPr>
          <p:cNvPr id="3" name="Title 2">
            <a:extLst>
              <a:ext uri="{FF2B5EF4-FFF2-40B4-BE49-F238E27FC236}">
                <a16:creationId xmlns:a16="http://schemas.microsoft.com/office/drawing/2014/main" id="{A71A41DF-D578-6EB1-3C77-EF16A69B4A91}"/>
              </a:ext>
            </a:extLst>
          </p:cNvPr>
          <p:cNvSpPr>
            <a:spLocks noGrp="1"/>
          </p:cNvSpPr>
          <p:nvPr>
            <p:ph type="title"/>
          </p:nvPr>
        </p:nvSpPr>
        <p:spPr>
          <a:xfrm>
            <a:off x="2400300" y="4610100"/>
            <a:ext cx="13487400" cy="1846660"/>
          </a:xfrm>
        </p:spPr>
        <p:txBody>
          <a:bodyPr>
            <a:normAutofit fontScale="90000"/>
          </a:bodyPr>
          <a:lstStyle/>
          <a:p>
            <a:r>
              <a:rPr lang="en-US" sz="7200" b="1" dirty="0"/>
              <a:t>Hotel Booking Cancellation Prediction</a:t>
            </a:r>
            <a:br>
              <a:rPr lang="en-US" sz="7200" dirty="0"/>
            </a:br>
            <a:r>
              <a:rPr lang="en-US" sz="4900" dirty="0"/>
              <a:t>Machine Learning Classification Project</a:t>
            </a:r>
            <a:br>
              <a:rPr lang="en-US" sz="7200" dirty="0"/>
            </a:br>
            <a:br>
              <a:rPr lang="en-US" sz="7200" b="1" dirty="0">
                <a:latin typeface="Arial"/>
                <a:ea typeface="+mn-ea"/>
                <a:cs typeface="+mn-cs"/>
              </a:rPr>
            </a:br>
            <a:endParaRPr lang="en-US" sz="7200" b="1" dirty="0">
              <a:latin typeface="Arial"/>
              <a:ea typeface="+mn-ea"/>
              <a:cs typeface="+mn-cs"/>
            </a:endParaRPr>
          </a:p>
        </p:txBody>
      </p:sp>
    </p:spTree>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132A0-BF75-C3EE-0F6D-0FB4C4117495}"/>
            </a:ext>
          </a:extLst>
        </p:cNvPr>
        <p:cNvGrpSpPr/>
        <p:nvPr/>
      </p:nvGrpSpPr>
      <p:grpSpPr>
        <a:xfrm>
          <a:off x="914400" y="1028700"/>
          <a:ext cx="8229600" cy="4543425"/>
          <a:chOff x="914400" y="1028700"/>
          <a:chExt cx="8229600" cy="4543425"/>
        </a:xfrm>
      </p:grpSpPr>
      <p:sp>
        <p:nvSpPr>
          <p:cNvPr id="2" name="TextBox 1">
            <a:extLst>
              <a:ext uri="{FF2B5EF4-FFF2-40B4-BE49-F238E27FC236}">
                <a16:creationId xmlns:a16="http://schemas.microsoft.com/office/drawing/2014/main" id="{A2C63432-6265-0E8C-3E1C-00DA47019244}"/>
              </a:ext>
            </a:extLst>
          </p:cNvPr>
          <p:cNvSpPr txBox="1"/>
          <p:nvPr/>
        </p:nvSpPr>
        <p:spPr>
          <a:xfrm>
            <a:off x="838200" y="643057"/>
            <a:ext cx="14630400" cy="1107996"/>
          </a:xfrm>
          <a:prstGeom prst="rect">
            <a:avLst/>
          </a:prstGeom>
          <a:noFill/>
        </p:spPr>
        <p:txBody>
          <a:bodyPr vert="horz" lIns="182880" tIns="91440" rIns="182880" bIns="91440" rtlCol="0" anchor="t" anchorCtr="0">
            <a:spAutoFit/>
          </a:bodyPr>
          <a:lstStyle/>
          <a:p>
            <a:pPr fontAlgn="t"/>
            <a:r>
              <a:rPr lang="en-US" sz="6000" dirty="0">
                <a:solidFill>
                  <a:schemeClr val="bg1"/>
                </a:solidFill>
              </a:rPr>
              <a:t>1. Introduction</a:t>
            </a:r>
            <a:endParaRPr lang="en-US" sz="6000" b="1" dirty="0">
              <a:solidFill>
                <a:schemeClr val="bg1"/>
              </a:solidFill>
              <a:latin typeface="Arial"/>
            </a:endParaRPr>
          </a:p>
        </p:txBody>
      </p:sp>
      <p:sp>
        <p:nvSpPr>
          <p:cNvPr id="3" name="TextBox 2">
            <a:extLst>
              <a:ext uri="{FF2B5EF4-FFF2-40B4-BE49-F238E27FC236}">
                <a16:creationId xmlns:a16="http://schemas.microsoft.com/office/drawing/2014/main" id="{65395276-E018-335A-CA9D-5D2AE4D070B5}"/>
              </a:ext>
            </a:extLst>
          </p:cNvPr>
          <p:cNvSpPr txBox="1"/>
          <p:nvPr/>
        </p:nvSpPr>
        <p:spPr>
          <a:xfrm>
            <a:off x="838200" y="1773913"/>
            <a:ext cx="16052800" cy="8186857"/>
          </a:xfrm>
          <a:prstGeom prst="rect">
            <a:avLst/>
          </a:prstGeom>
          <a:noFill/>
        </p:spPr>
        <p:txBody>
          <a:bodyPr vert="horz" wrap="square" lIns="182880" tIns="91440" rIns="182880" bIns="91440" rtlCol="0" anchorCtr="0">
            <a:spAutoFit/>
          </a:bodyPr>
          <a:lstStyle/>
          <a:p>
            <a:r>
              <a:rPr lang="en-US" sz="4000" dirty="0">
                <a:solidFill>
                  <a:schemeClr val="bg1">
                    <a:lumMod val="85000"/>
                  </a:schemeClr>
                </a:solidFill>
              </a:rPr>
              <a:t>Why does booking cancelation is matter?</a:t>
            </a:r>
          </a:p>
          <a:p>
            <a:pPr marL="571500" indent="-571500">
              <a:buFont typeface="Arial" panose="020B0604020202020204" pitchFamily="34" charset="0"/>
              <a:buChar char="•"/>
            </a:pPr>
            <a:endParaRPr lang="en-US" sz="4000" b="1" dirty="0">
              <a:solidFill>
                <a:schemeClr val="bg1"/>
              </a:solidFill>
            </a:endParaRPr>
          </a:p>
          <a:p>
            <a:pPr marL="571500" indent="-571500">
              <a:buFont typeface="Arial" panose="020B0604020202020204" pitchFamily="34" charset="0"/>
              <a:buChar char="•"/>
            </a:pPr>
            <a:r>
              <a:rPr lang="en-US" sz="4000" b="1" dirty="0">
                <a:solidFill>
                  <a:schemeClr val="bg1"/>
                </a:solidFill>
              </a:rPr>
              <a:t>The Problem:</a:t>
            </a:r>
            <a:r>
              <a:rPr lang="en-US" sz="4000" dirty="0">
                <a:solidFill>
                  <a:schemeClr val="bg1"/>
                </a:solidFill>
              </a:rPr>
              <a:t> Revenue loss due to "no-shows" and last-minute cancellations.</a:t>
            </a:r>
          </a:p>
          <a:p>
            <a:pPr marL="571500" indent="-571500">
              <a:buFont typeface="Arial" panose="020B0604020202020204" pitchFamily="34" charset="0"/>
              <a:buChar char="•"/>
            </a:pPr>
            <a:endParaRPr lang="en-US" sz="4000" b="1" dirty="0">
              <a:solidFill>
                <a:schemeClr val="bg1"/>
              </a:solidFill>
            </a:endParaRPr>
          </a:p>
          <a:p>
            <a:pPr marL="571500" indent="-571500">
              <a:buFont typeface="Arial" panose="020B0604020202020204" pitchFamily="34" charset="0"/>
              <a:buChar char="•"/>
            </a:pPr>
            <a:r>
              <a:rPr lang="en-US" sz="4000" b="1" dirty="0">
                <a:solidFill>
                  <a:schemeClr val="bg1"/>
                </a:solidFill>
              </a:rPr>
              <a:t>The Goal:</a:t>
            </a:r>
            <a:r>
              <a:rPr lang="en-US" sz="4000" dirty="0">
                <a:solidFill>
                  <a:schemeClr val="bg1"/>
                </a:solidFill>
              </a:rPr>
              <a:t> predict whether a booking will be cancelled or not using machine learning algorithms.</a:t>
            </a:r>
            <a:endParaRPr lang="en-US" sz="4000" b="1" dirty="0">
              <a:solidFill>
                <a:schemeClr val="bg1"/>
              </a:solidFill>
            </a:endParaRPr>
          </a:p>
          <a:p>
            <a:pPr marL="571500" indent="-571500">
              <a:buFont typeface="Arial" panose="020B0604020202020204" pitchFamily="34" charset="0"/>
              <a:buChar char="•"/>
            </a:pPr>
            <a:endParaRPr lang="en-US" sz="4000" dirty="0">
              <a:solidFill>
                <a:schemeClr val="bg1"/>
              </a:solidFill>
            </a:endParaRPr>
          </a:p>
          <a:p>
            <a:pPr marL="571500" indent="-571500">
              <a:buFont typeface="Arial" panose="020B0604020202020204" pitchFamily="34" charset="0"/>
              <a:buChar char="•"/>
            </a:pPr>
            <a:r>
              <a:rPr lang="en-US" sz="4000" dirty="0">
                <a:solidFill>
                  <a:schemeClr val="bg1"/>
                </a:solidFill>
              </a:rPr>
              <a:t>Target: booking status</a:t>
            </a:r>
            <a:endParaRPr lang="en-US" sz="4000" b="1" dirty="0">
              <a:solidFill>
                <a:schemeClr val="bg1"/>
              </a:solidFill>
            </a:endParaRPr>
          </a:p>
          <a:p>
            <a:endParaRPr lang="en-US" sz="4000" b="1" dirty="0">
              <a:solidFill>
                <a:schemeClr val="bg1"/>
              </a:solidFill>
            </a:endParaRPr>
          </a:p>
          <a:p>
            <a:pPr marL="571500" indent="-571500">
              <a:buFont typeface="Arial" panose="020B0604020202020204" pitchFamily="34" charset="0"/>
              <a:buChar char="•"/>
            </a:pPr>
            <a:r>
              <a:rPr lang="en-US" sz="4000" dirty="0">
                <a:solidFill>
                  <a:schemeClr val="bg1"/>
                </a:solidFill>
              </a:rPr>
              <a:t>Binary Classification (Canceled / Not Canceled)</a:t>
            </a:r>
            <a:endParaRPr lang="en-US" sz="4000" b="1" dirty="0">
              <a:solidFill>
                <a:schemeClr val="bg1"/>
              </a:solidFill>
            </a:endParaRPr>
          </a:p>
          <a:p>
            <a:endParaRPr lang="en-US" sz="4000" b="1" dirty="0">
              <a:solidFill>
                <a:schemeClr val="bg1"/>
              </a:solidFill>
            </a:endParaRPr>
          </a:p>
          <a:p>
            <a:r>
              <a:rPr lang="en-US" sz="4000" b="1" dirty="0">
                <a:solidFill>
                  <a:schemeClr val="bg1"/>
                </a:solidFill>
              </a:rPr>
              <a:t>     No Missing Values or Duplicates.</a:t>
            </a:r>
            <a:endParaRPr lang="en-US" sz="4000" dirty="0">
              <a:solidFill>
                <a:schemeClr val="bg1"/>
              </a:solidFill>
            </a:endParaRPr>
          </a:p>
        </p:txBody>
      </p:sp>
    </p:spTree>
    <p:extLst>
      <p:ext uri="{BB962C8B-B14F-4D97-AF65-F5344CB8AC3E}">
        <p14:creationId xmlns:p14="http://schemas.microsoft.com/office/powerpoint/2010/main" val="3423871589"/>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EB0CA-3E99-EB02-1188-C9AA6B39CBF5}"/>
            </a:ext>
          </a:extLst>
        </p:cNvPr>
        <p:cNvGrpSpPr/>
        <p:nvPr/>
      </p:nvGrpSpPr>
      <p:grpSpPr>
        <a:xfrm>
          <a:off x="914400" y="1028700"/>
          <a:ext cx="8229600" cy="4543425"/>
          <a:chOff x="914400" y="1028700"/>
          <a:chExt cx="8229600" cy="4543425"/>
        </a:xfrm>
      </p:grpSpPr>
      <p:sp>
        <p:nvSpPr>
          <p:cNvPr id="2" name="TextBox 1">
            <a:extLst>
              <a:ext uri="{FF2B5EF4-FFF2-40B4-BE49-F238E27FC236}">
                <a16:creationId xmlns:a16="http://schemas.microsoft.com/office/drawing/2014/main" id="{5211F5FC-4BA3-998F-71D1-3A9A3C492572}"/>
              </a:ext>
            </a:extLst>
          </p:cNvPr>
          <p:cNvSpPr txBox="1"/>
          <p:nvPr/>
        </p:nvSpPr>
        <p:spPr>
          <a:xfrm>
            <a:off x="838200" y="643057"/>
            <a:ext cx="16459200" cy="8186857"/>
          </a:xfrm>
          <a:prstGeom prst="rect">
            <a:avLst/>
          </a:prstGeom>
          <a:noFill/>
        </p:spPr>
        <p:txBody>
          <a:bodyPr vert="horz" wrap="square" lIns="182880" tIns="91440" rIns="182880" bIns="91440" rtlCol="0" anchor="t" anchorCtr="0">
            <a:spAutoFit/>
          </a:bodyPr>
          <a:lstStyle/>
          <a:p>
            <a:pPr fontAlgn="t"/>
            <a:r>
              <a:rPr lang="en-US" sz="6000" dirty="0">
                <a:solidFill>
                  <a:schemeClr val="bg1"/>
                </a:solidFill>
              </a:rPr>
              <a:t>2. Train-Test Split (Before Preprocessing)</a:t>
            </a:r>
            <a:endParaRPr lang="en-US" sz="2000" b="1" dirty="0">
              <a:solidFill>
                <a:schemeClr val="bg1"/>
              </a:solidFill>
              <a:latin typeface="Arial"/>
            </a:endParaRPr>
          </a:p>
          <a:p>
            <a:pPr fontAlgn="t"/>
            <a:endParaRPr lang="en-US" sz="6000" b="1" dirty="0">
              <a:solidFill>
                <a:schemeClr val="bg1"/>
              </a:solidFill>
              <a:latin typeface="Arial"/>
            </a:endParaRPr>
          </a:p>
          <a:p>
            <a:pPr marL="571500" indent="-571500">
              <a:buFont typeface="Arial" panose="020B0604020202020204" pitchFamily="34" charset="0"/>
              <a:buChar char="•"/>
            </a:pPr>
            <a:r>
              <a:rPr lang="en-US" sz="4000" dirty="0">
                <a:solidFill>
                  <a:schemeClr val="bg1"/>
                </a:solidFill>
              </a:rPr>
              <a:t>80% Training Data</a:t>
            </a:r>
          </a:p>
          <a:p>
            <a:pPr marL="571500" indent="-571500">
              <a:buFont typeface="Arial" panose="020B0604020202020204" pitchFamily="34" charset="0"/>
              <a:buChar char="•"/>
            </a:pPr>
            <a:r>
              <a:rPr lang="en-US" sz="4000" dirty="0">
                <a:solidFill>
                  <a:schemeClr val="bg1"/>
                </a:solidFill>
              </a:rPr>
              <a:t>20% Testing Data</a:t>
            </a:r>
          </a:p>
          <a:p>
            <a:pPr marL="571500" indent="-571500">
              <a:buFont typeface="Arial" panose="020B0604020202020204" pitchFamily="34" charset="0"/>
              <a:buChar char="•"/>
            </a:pPr>
            <a:r>
              <a:rPr lang="en-US" sz="4000" dirty="0">
                <a:solidFill>
                  <a:schemeClr val="bg1"/>
                </a:solidFill>
              </a:rPr>
              <a:t>Split done before preprocessing</a:t>
            </a:r>
          </a:p>
          <a:p>
            <a:pPr marL="571500" indent="-571500">
              <a:buFont typeface="Arial" panose="020B0604020202020204" pitchFamily="34" charset="0"/>
              <a:buChar char="•"/>
            </a:pPr>
            <a:r>
              <a:rPr lang="en-US" sz="4000" dirty="0">
                <a:solidFill>
                  <a:schemeClr val="bg1"/>
                </a:solidFill>
              </a:rPr>
              <a:t>Prevents Data Leakage</a:t>
            </a:r>
          </a:p>
          <a:p>
            <a:pPr fontAlgn="t"/>
            <a:endParaRPr lang="en-US" sz="6000" b="1" dirty="0">
              <a:solidFill>
                <a:schemeClr val="bg1"/>
              </a:solidFill>
              <a:latin typeface="Arial"/>
            </a:endParaRPr>
          </a:p>
          <a:p>
            <a:pPr fontAlgn="t"/>
            <a:r>
              <a:rPr lang="en-US" sz="4000" b="1" dirty="0">
                <a:solidFill>
                  <a:schemeClr val="bg1"/>
                </a:solidFill>
                <a:latin typeface="Arial"/>
              </a:rPr>
              <a:t>We split the data before any processing to ensure that the test data remains unseen and is not affected by any cleaning or transformation operations.</a:t>
            </a:r>
          </a:p>
          <a:p>
            <a:pPr fontAlgn="t"/>
            <a:endParaRPr lang="en-US" sz="6000" b="1" dirty="0">
              <a:solidFill>
                <a:schemeClr val="bg1"/>
              </a:solidFill>
              <a:latin typeface="Arial"/>
            </a:endParaRPr>
          </a:p>
        </p:txBody>
      </p:sp>
    </p:spTree>
    <p:extLst>
      <p:ext uri="{BB962C8B-B14F-4D97-AF65-F5344CB8AC3E}">
        <p14:creationId xmlns:p14="http://schemas.microsoft.com/office/powerpoint/2010/main" val="76483680"/>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6969B-A1D2-7488-2819-F88E9F51EEBE}"/>
            </a:ext>
          </a:extLst>
        </p:cNvPr>
        <p:cNvGrpSpPr/>
        <p:nvPr/>
      </p:nvGrpSpPr>
      <p:grpSpPr>
        <a:xfrm>
          <a:off x="914400" y="1028700"/>
          <a:ext cx="8229600" cy="4543425"/>
          <a:chOff x="914400" y="1028700"/>
          <a:chExt cx="8229600" cy="4543425"/>
        </a:xfrm>
      </p:grpSpPr>
      <p:sp>
        <p:nvSpPr>
          <p:cNvPr id="2" name="TextBox 1">
            <a:extLst>
              <a:ext uri="{FF2B5EF4-FFF2-40B4-BE49-F238E27FC236}">
                <a16:creationId xmlns:a16="http://schemas.microsoft.com/office/drawing/2014/main" id="{9F903AB9-2474-36A4-C489-977C3CF5D795}"/>
              </a:ext>
            </a:extLst>
          </p:cNvPr>
          <p:cNvSpPr txBox="1"/>
          <p:nvPr/>
        </p:nvSpPr>
        <p:spPr>
          <a:xfrm>
            <a:off x="838200" y="643057"/>
            <a:ext cx="16459200" cy="6955750"/>
          </a:xfrm>
          <a:prstGeom prst="rect">
            <a:avLst/>
          </a:prstGeom>
          <a:noFill/>
        </p:spPr>
        <p:txBody>
          <a:bodyPr vert="horz" wrap="square" lIns="182880" tIns="91440" rIns="182880" bIns="91440" rtlCol="0" anchor="t" anchorCtr="0">
            <a:spAutoFit/>
          </a:bodyPr>
          <a:lstStyle/>
          <a:p>
            <a:pPr fontAlgn="t"/>
            <a:r>
              <a:rPr lang="en-US" sz="6000" dirty="0">
                <a:solidFill>
                  <a:schemeClr val="bg1"/>
                </a:solidFill>
              </a:rPr>
              <a:t>3. Data Preprocessing</a:t>
            </a:r>
          </a:p>
          <a:p>
            <a:pPr fontAlgn="t"/>
            <a:endParaRPr lang="en-US" sz="6000" b="1" dirty="0">
              <a:solidFill>
                <a:schemeClr val="bg1"/>
              </a:solidFill>
              <a:latin typeface="Arial"/>
            </a:endParaRPr>
          </a:p>
          <a:p>
            <a:pPr marL="571500" indent="-571500">
              <a:buFont typeface="Arial" panose="020B0604020202020204" pitchFamily="34" charset="0"/>
              <a:buChar char="•"/>
            </a:pPr>
            <a:r>
              <a:rPr lang="en-US" sz="4000" dirty="0">
                <a:solidFill>
                  <a:schemeClr val="bg1"/>
                </a:solidFill>
              </a:rPr>
              <a:t>Converted date column to datetime</a:t>
            </a:r>
          </a:p>
          <a:p>
            <a:pPr marL="571500" indent="-571500">
              <a:buFont typeface="Arial" panose="020B0604020202020204" pitchFamily="34" charset="0"/>
              <a:buChar char="•"/>
            </a:pPr>
            <a:r>
              <a:rPr lang="en-US" sz="4000" dirty="0">
                <a:solidFill>
                  <a:schemeClr val="bg1"/>
                </a:solidFill>
              </a:rPr>
              <a:t>No missing values in dataset</a:t>
            </a:r>
          </a:p>
          <a:p>
            <a:pPr marL="571500" indent="-571500">
              <a:buFont typeface="Arial" panose="020B0604020202020204" pitchFamily="34" charset="0"/>
              <a:buChar char="•"/>
            </a:pPr>
            <a:r>
              <a:rPr lang="en-US" sz="4000" dirty="0">
                <a:solidFill>
                  <a:schemeClr val="bg1"/>
                </a:solidFill>
              </a:rPr>
              <a:t>Cleaned inconsistent values</a:t>
            </a:r>
          </a:p>
          <a:p>
            <a:pPr fontAlgn="t"/>
            <a:endParaRPr lang="en-US" sz="6000" b="1" dirty="0">
              <a:solidFill>
                <a:schemeClr val="bg1"/>
              </a:solidFill>
              <a:latin typeface="Arial"/>
            </a:endParaRPr>
          </a:p>
          <a:p>
            <a:pPr fontAlgn="t"/>
            <a:r>
              <a:rPr lang="en-US" sz="4000" b="1" dirty="0">
                <a:solidFill>
                  <a:schemeClr val="bg1"/>
                </a:solidFill>
                <a:latin typeface="Arial"/>
              </a:rPr>
              <a:t>We ensured the data was clean before entering it into the model to ensure accurate results.</a:t>
            </a:r>
          </a:p>
          <a:p>
            <a:pPr fontAlgn="t"/>
            <a:endParaRPr lang="en-US" sz="6000" b="1" dirty="0">
              <a:solidFill>
                <a:schemeClr val="bg1"/>
              </a:solidFill>
              <a:latin typeface="Arial"/>
            </a:endParaRPr>
          </a:p>
        </p:txBody>
      </p:sp>
    </p:spTree>
    <p:extLst>
      <p:ext uri="{BB962C8B-B14F-4D97-AF65-F5344CB8AC3E}">
        <p14:creationId xmlns:p14="http://schemas.microsoft.com/office/powerpoint/2010/main" val="3799917487"/>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28824-906C-309E-CDA0-C572C1E9E376}"/>
            </a:ext>
          </a:extLst>
        </p:cNvPr>
        <p:cNvGrpSpPr/>
        <p:nvPr/>
      </p:nvGrpSpPr>
      <p:grpSpPr>
        <a:xfrm>
          <a:off x="914400" y="1028700"/>
          <a:ext cx="8229600" cy="4543425"/>
          <a:chOff x="914400" y="1028700"/>
          <a:chExt cx="8229600" cy="4543425"/>
        </a:xfrm>
      </p:grpSpPr>
      <p:sp>
        <p:nvSpPr>
          <p:cNvPr id="2" name="TextBox 1">
            <a:extLst>
              <a:ext uri="{FF2B5EF4-FFF2-40B4-BE49-F238E27FC236}">
                <a16:creationId xmlns:a16="http://schemas.microsoft.com/office/drawing/2014/main" id="{77EFCD86-ED86-3D56-A834-7477A4BCBD0E}"/>
              </a:ext>
            </a:extLst>
          </p:cNvPr>
          <p:cNvSpPr txBox="1"/>
          <p:nvPr/>
        </p:nvSpPr>
        <p:spPr>
          <a:xfrm>
            <a:off x="838200" y="643057"/>
            <a:ext cx="16459200" cy="9541073"/>
          </a:xfrm>
          <a:prstGeom prst="rect">
            <a:avLst/>
          </a:prstGeom>
          <a:noFill/>
        </p:spPr>
        <p:txBody>
          <a:bodyPr vert="horz" wrap="square" lIns="182880" tIns="91440" rIns="182880" bIns="91440" rtlCol="0" anchor="t" anchorCtr="0">
            <a:spAutoFit/>
          </a:bodyPr>
          <a:lstStyle/>
          <a:p>
            <a:pPr fontAlgn="t"/>
            <a:r>
              <a:rPr lang="en-US" sz="6000" dirty="0">
                <a:solidFill>
                  <a:schemeClr val="bg1"/>
                </a:solidFill>
              </a:rPr>
              <a:t>4. Feature Engineering</a:t>
            </a:r>
            <a:endParaRPr lang="en-US" sz="6000" b="1" dirty="0">
              <a:solidFill>
                <a:schemeClr val="bg1"/>
              </a:solidFill>
              <a:latin typeface="Arial"/>
            </a:endParaRPr>
          </a:p>
          <a:p>
            <a:pPr fontAlgn="t"/>
            <a:endParaRPr lang="en-US" sz="3200" b="1" dirty="0">
              <a:solidFill>
                <a:schemeClr val="bg1"/>
              </a:solidFill>
              <a:latin typeface="Arial"/>
            </a:endParaRPr>
          </a:p>
          <a:p>
            <a:pPr marL="457200" indent="-457200" fontAlgn="t">
              <a:buFont typeface="Arial" panose="020B0604020202020204" pitchFamily="34" charset="0"/>
              <a:buChar char="•"/>
            </a:pPr>
            <a:r>
              <a:rPr lang="en-US" sz="3200" b="1" dirty="0">
                <a:solidFill>
                  <a:schemeClr val="bg1"/>
                </a:solidFill>
                <a:latin typeface="Arial"/>
              </a:rPr>
              <a:t>Examples in our project:</a:t>
            </a:r>
          </a:p>
          <a:p>
            <a:pPr marL="514350" indent="-514350" fontAlgn="t">
              <a:buFont typeface="+mj-lt"/>
              <a:buAutoNum type="arabicPeriod"/>
            </a:pPr>
            <a:endParaRPr lang="en-US" sz="3200" b="1" dirty="0">
              <a:solidFill>
                <a:schemeClr val="bg1"/>
              </a:solidFill>
              <a:latin typeface="Arial"/>
            </a:endParaRPr>
          </a:p>
          <a:p>
            <a:pPr marL="514350" indent="-514350" fontAlgn="t">
              <a:buFont typeface="+mj-lt"/>
              <a:buAutoNum type="arabicPeriod"/>
            </a:pPr>
            <a:r>
              <a:rPr lang="en-US" sz="3200" b="1" dirty="0">
                <a:solidFill>
                  <a:schemeClr val="bg1"/>
                </a:solidFill>
                <a:latin typeface="Arial"/>
              </a:rPr>
              <a:t>Total nights = number of weekend nights + number of week nights</a:t>
            </a:r>
          </a:p>
          <a:p>
            <a:pPr marL="514350" indent="-514350" fontAlgn="t">
              <a:buFont typeface="+mj-lt"/>
              <a:buAutoNum type="arabicPeriod"/>
            </a:pPr>
            <a:endParaRPr lang="en-US" sz="3200" b="1" dirty="0">
              <a:solidFill>
                <a:schemeClr val="bg1"/>
              </a:solidFill>
              <a:latin typeface="Arial"/>
            </a:endParaRPr>
          </a:p>
          <a:p>
            <a:pPr marL="514350" indent="-514350" fontAlgn="t">
              <a:buFont typeface="+mj-lt"/>
              <a:buAutoNum type="arabicPeriod"/>
            </a:pPr>
            <a:r>
              <a:rPr lang="en-US" sz="3200" b="1" dirty="0">
                <a:solidFill>
                  <a:schemeClr val="bg1"/>
                </a:solidFill>
                <a:latin typeface="Arial"/>
              </a:rPr>
              <a:t>Number of people = number of adults + number of children </a:t>
            </a:r>
          </a:p>
          <a:p>
            <a:pPr marL="514350" indent="-514350" fontAlgn="t">
              <a:buFont typeface="+mj-lt"/>
              <a:buAutoNum type="arabicPeriod"/>
            </a:pPr>
            <a:endParaRPr lang="en-US" sz="3200" b="1" dirty="0">
              <a:solidFill>
                <a:schemeClr val="bg1"/>
              </a:solidFill>
              <a:latin typeface="Arial"/>
            </a:endParaRPr>
          </a:p>
          <a:p>
            <a:pPr marL="514350" indent="-514350" fontAlgn="t">
              <a:buFont typeface="+mj-lt"/>
              <a:buAutoNum type="arabicPeriod"/>
            </a:pPr>
            <a:r>
              <a:rPr lang="en-US" sz="3200" b="1" dirty="0">
                <a:solidFill>
                  <a:schemeClr val="bg1"/>
                </a:solidFill>
                <a:latin typeface="Arial"/>
              </a:rPr>
              <a:t>Extract </a:t>
            </a:r>
            <a:r>
              <a:rPr lang="en-US" sz="3200" b="1" u="sng" dirty="0">
                <a:solidFill>
                  <a:schemeClr val="bg1"/>
                </a:solidFill>
                <a:latin typeface="Arial"/>
              </a:rPr>
              <a:t>reservation month</a:t>
            </a:r>
            <a:r>
              <a:rPr lang="en-US" sz="3200" b="1" dirty="0">
                <a:solidFill>
                  <a:schemeClr val="bg1"/>
                </a:solidFill>
                <a:latin typeface="Arial"/>
              </a:rPr>
              <a:t>, </a:t>
            </a:r>
            <a:r>
              <a:rPr lang="en-US" sz="3200" b="1" u="sng" dirty="0">
                <a:solidFill>
                  <a:schemeClr val="bg1"/>
                </a:solidFill>
                <a:latin typeface="Arial"/>
              </a:rPr>
              <a:t>reservation month </a:t>
            </a:r>
            <a:r>
              <a:rPr lang="en-US" sz="3200" b="1" dirty="0">
                <a:solidFill>
                  <a:schemeClr val="bg1"/>
                </a:solidFill>
                <a:latin typeface="Arial"/>
              </a:rPr>
              <a:t>&amp; </a:t>
            </a:r>
            <a:r>
              <a:rPr lang="en-US" sz="3200" b="1" u="sng" dirty="0">
                <a:solidFill>
                  <a:schemeClr val="bg1"/>
                </a:solidFill>
                <a:latin typeface="Arial"/>
              </a:rPr>
              <a:t>reservation year </a:t>
            </a:r>
            <a:r>
              <a:rPr lang="en-US" sz="3200" b="1" dirty="0">
                <a:solidFill>
                  <a:schemeClr val="bg1"/>
                </a:solidFill>
                <a:latin typeface="Arial"/>
              </a:rPr>
              <a:t>from date of reservation </a:t>
            </a:r>
          </a:p>
          <a:p>
            <a:pPr fontAlgn="t"/>
            <a:endParaRPr lang="en-US" sz="6000" b="1" dirty="0">
              <a:solidFill>
                <a:schemeClr val="bg1"/>
              </a:solidFill>
              <a:latin typeface="Arial"/>
            </a:endParaRPr>
          </a:p>
          <a:p>
            <a:pPr fontAlgn="t"/>
            <a:r>
              <a:rPr lang="en-US" sz="4000" b="1" dirty="0">
                <a:solidFill>
                  <a:schemeClr val="bg1"/>
                </a:solidFill>
                <a:latin typeface="Arial"/>
              </a:rPr>
              <a:t>We have created new features that help the model better understand the data and improve prediction.</a:t>
            </a:r>
          </a:p>
          <a:p>
            <a:pPr fontAlgn="t"/>
            <a:endParaRPr lang="en-US" sz="6000" b="1" dirty="0">
              <a:solidFill>
                <a:schemeClr val="bg1"/>
              </a:solidFill>
              <a:latin typeface="Arial"/>
            </a:endParaRPr>
          </a:p>
          <a:p>
            <a:pPr fontAlgn="t"/>
            <a:endParaRPr lang="en-US" sz="6000" b="1" dirty="0">
              <a:solidFill>
                <a:schemeClr val="bg1"/>
              </a:solidFill>
              <a:latin typeface="Arial"/>
            </a:endParaRPr>
          </a:p>
        </p:txBody>
      </p:sp>
    </p:spTree>
    <p:extLst>
      <p:ext uri="{BB962C8B-B14F-4D97-AF65-F5344CB8AC3E}">
        <p14:creationId xmlns:p14="http://schemas.microsoft.com/office/powerpoint/2010/main" val="412701966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8FEA8-0DCC-93FA-0787-693CF23A6313}"/>
            </a:ext>
          </a:extLst>
        </p:cNvPr>
        <p:cNvGrpSpPr/>
        <p:nvPr/>
      </p:nvGrpSpPr>
      <p:grpSpPr>
        <a:xfrm>
          <a:off x="914400" y="1028700"/>
          <a:ext cx="8229600" cy="4543425"/>
          <a:chOff x="914400" y="1028700"/>
          <a:chExt cx="8229600" cy="4543425"/>
        </a:xfrm>
      </p:grpSpPr>
      <p:pic>
        <p:nvPicPr>
          <p:cNvPr id="9" name="Picture 8">
            <a:extLst>
              <a:ext uri="{FF2B5EF4-FFF2-40B4-BE49-F238E27FC236}">
                <a16:creationId xmlns:a16="http://schemas.microsoft.com/office/drawing/2014/main" id="{77968FE6-292A-A8C1-56D5-DC8FF85526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53600" y="2339340"/>
            <a:ext cx="7813510" cy="6019800"/>
          </a:xfrm>
          <a:prstGeom prst="rect">
            <a:avLst/>
          </a:prstGeom>
        </p:spPr>
      </p:pic>
      <p:pic>
        <p:nvPicPr>
          <p:cNvPr id="11" name="Picture 10">
            <a:extLst>
              <a:ext uri="{FF2B5EF4-FFF2-40B4-BE49-F238E27FC236}">
                <a16:creationId xmlns:a16="http://schemas.microsoft.com/office/drawing/2014/main" id="{CD4CADC5-F1D3-8B6C-5613-8D08ABB551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0600" y="2339340"/>
            <a:ext cx="7884704" cy="6019800"/>
          </a:xfrm>
          <a:prstGeom prst="rect">
            <a:avLst/>
          </a:prstGeom>
        </p:spPr>
      </p:pic>
      <p:sp>
        <p:nvSpPr>
          <p:cNvPr id="13" name="TextBox 12">
            <a:extLst>
              <a:ext uri="{FF2B5EF4-FFF2-40B4-BE49-F238E27FC236}">
                <a16:creationId xmlns:a16="http://schemas.microsoft.com/office/drawing/2014/main" id="{3A132DEE-107B-BB56-0B83-ED36579B5D83}"/>
              </a:ext>
            </a:extLst>
          </p:cNvPr>
          <p:cNvSpPr txBox="1"/>
          <p:nvPr/>
        </p:nvSpPr>
        <p:spPr>
          <a:xfrm>
            <a:off x="762000" y="647700"/>
            <a:ext cx="9395460" cy="1015663"/>
          </a:xfrm>
          <a:prstGeom prst="rect">
            <a:avLst/>
          </a:prstGeom>
          <a:noFill/>
        </p:spPr>
        <p:txBody>
          <a:bodyPr wrap="square">
            <a:spAutoFit/>
          </a:bodyPr>
          <a:lstStyle/>
          <a:p>
            <a:pPr fontAlgn="t"/>
            <a:r>
              <a:rPr lang="en-US" sz="6000" dirty="0">
                <a:solidFill>
                  <a:schemeClr val="bg1"/>
                </a:solidFill>
              </a:rPr>
              <a:t>4. Feature Engineering</a:t>
            </a:r>
            <a:endParaRPr lang="en-US" sz="6000" b="1" dirty="0">
              <a:solidFill>
                <a:schemeClr val="bg1"/>
              </a:solidFill>
              <a:latin typeface="Arial"/>
            </a:endParaRPr>
          </a:p>
        </p:txBody>
      </p:sp>
    </p:spTree>
    <p:extLst>
      <p:ext uri="{BB962C8B-B14F-4D97-AF65-F5344CB8AC3E}">
        <p14:creationId xmlns:p14="http://schemas.microsoft.com/office/powerpoint/2010/main" val="20430680"/>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81E7A-F846-EF99-4DD2-82C07803C14F}"/>
            </a:ext>
          </a:extLst>
        </p:cNvPr>
        <p:cNvGrpSpPr/>
        <p:nvPr/>
      </p:nvGrpSpPr>
      <p:grpSpPr>
        <a:xfrm>
          <a:off x="914400" y="1028700"/>
          <a:ext cx="8229600" cy="4543425"/>
          <a:chOff x="914400" y="1028700"/>
          <a:chExt cx="8229600" cy="4543425"/>
        </a:xfrm>
      </p:grpSpPr>
      <p:sp>
        <p:nvSpPr>
          <p:cNvPr id="2" name="TextBox 1">
            <a:extLst>
              <a:ext uri="{FF2B5EF4-FFF2-40B4-BE49-F238E27FC236}">
                <a16:creationId xmlns:a16="http://schemas.microsoft.com/office/drawing/2014/main" id="{3442B054-EF4E-9C9C-7865-80BFEBFDBE99}"/>
              </a:ext>
            </a:extLst>
          </p:cNvPr>
          <p:cNvSpPr txBox="1"/>
          <p:nvPr/>
        </p:nvSpPr>
        <p:spPr>
          <a:xfrm>
            <a:off x="838200" y="643057"/>
            <a:ext cx="16459200" cy="7263527"/>
          </a:xfrm>
          <a:prstGeom prst="rect">
            <a:avLst/>
          </a:prstGeom>
          <a:noFill/>
        </p:spPr>
        <p:txBody>
          <a:bodyPr vert="horz" wrap="square" lIns="182880" tIns="91440" rIns="182880" bIns="91440" rtlCol="0" anchor="t" anchorCtr="0">
            <a:spAutoFit/>
          </a:bodyPr>
          <a:lstStyle/>
          <a:p>
            <a:pPr fontAlgn="t"/>
            <a:r>
              <a:rPr lang="en-US" sz="6000" dirty="0">
                <a:solidFill>
                  <a:schemeClr val="bg1"/>
                </a:solidFill>
              </a:rPr>
              <a:t>5. Encoding </a:t>
            </a:r>
            <a:endParaRPr lang="en-US" sz="6000" b="1" dirty="0">
              <a:solidFill>
                <a:schemeClr val="bg1"/>
              </a:solidFill>
              <a:latin typeface="Arial"/>
            </a:endParaRPr>
          </a:p>
          <a:p>
            <a:pPr fontAlgn="t"/>
            <a:endParaRPr lang="en-US" sz="6000" b="1" dirty="0">
              <a:solidFill>
                <a:schemeClr val="bg1"/>
              </a:solidFill>
              <a:latin typeface="Arial"/>
            </a:endParaRPr>
          </a:p>
          <a:p>
            <a:pPr fontAlgn="t"/>
            <a:endParaRPr lang="en-US" sz="6000" b="1" dirty="0">
              <a:solidFill>
                <a:schemeClr val="bg1"/>
              </a:solidFill>
              <a:latin typeface="Arial"/>
            </a:endParaRPr>
          </a:p>
          <a:p>
            <a:pPr lvl="0" eaLnBrk="0" fontAlgn="base" hangingPunct="0">
              <a:spcBef>
                <a:spcPct val="0"/>
              </a:spcBef>
              <a:spcAft>
                <a:spcPct val="0"/>
              </a:spcAft>
              <a:buFontTx/>
              <a:buChar char="•"/>
            </a:pPr>
            <a:r>
              <a:rPr lang="en-US" altLang="en-US" sz="4000" dirty="0">
                <a:solidFill>
                  <a:schemeClr val="bg1"/>
                </a:solidFill>
                <a:latin typeface="Arial" panose="020B0604020202020204" pitchFamily="34" charset="0"/>
              </a:rPr>
              <a:t>Label Encoding for target variable</a:t>
            </a:r>
          </a:p>
          <a:p>
            <a:pPr lvl="0" eaLnBrk="0" fontAlgn="base" hangingPunct="0">
              <a:spcBef>
                <a:spcPct val="0"/>
              </a:spcBef>
              <a:spcAft>
                <a:spcPct val="0"/>
              </a:spcAft>
              <a:buFontTx/>
              <a:buChar char="•"/>
            </a:pPr>
            <a:r>
              <a:rPr lang="en-US" altLang="en-US" sz="4000" dirty="0">
                <a:solidFill>
                  <a:schemeClr val="bg1"/>
                </a:solidFill>
                <a:latin typeface="Arial" panose="020B0604020202020204" pitchFamily="34" charset="0"/>
              </a:rPr>
              <a:t>One-Hot Encoding for categorical features</a:t>
            </a:r>
          </a:p>
          <a:p>
            <a:pPr fontAlgn="t"/>
            <a:endParaRPr lang="en-US" sz="6000" b="1" dirty="0">
              <a:solidFill>
                <a:schemeClr val="bg1"/>
              </a:solidFill>
              <a:latin typeface="Arial"/>
            </a:endParaRPr>
          </a:p>
          <a:p>
            <a:pPr fontAlgn="t"/>
            <a:endParaRPr lang="en-US" sz="6000" b="1" dirty="0">
              <a:solidFill>
                <a:schemeClr val="bg1"/>
              </a:solidFill>
              <a:latin typeface="Arial"/>
            </a:endParaRPr>
          </a:p>
          <a:p>
            <a:pPr fontAlgn="t"/>
            <a:r>
              <a:rPr lang="en-US" sz="4000" b="1" dirty="0">
                <a:solidFill>
                  <a:schemeClr val="bg1"/>
                </a:solidFill>
                <a:latin typeface="Arial"/>
              </a:rPr>
              <a:t>We converted the text values ​​to numbers because the models do not handle text.</a:t>
            </a:r>
          </a:p>
        </p:txBody>
      </p:sp>
    </p:spTree>
    <p:extLst>
      <p:ext uri="{BB962C8B-B14F-4D97-AF65-F5344CB8AC3E}">
        <p14:creationId xmlns:p14="http://schemas.microsoft.com/office/powerpoint/2010/main" val="1771807733"/>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9E769-A4A6-BD2D-70E3-8FF70859FBEE}"/>
            </a:ext>
          </a:extLst>
        </p:cNvPr>
        <p:cNvGrpSpPr/>
        <p:nvPr/>
      </p:nvGrpSpPr>
      <p:grpSpPr>
        <a:xfrm>
          <a:off x="914400" y="1028700"/>
          <a:ext cx="8229600" cy="4543425"/>
          <a:chOff x="914400" y="1028700"/>
          <a:chExt cx="8229600" cy="4543425"/>
        </a:xfrm>
      </p:grpSpPr>
      <p:sp>
        <p:nvSpPr>
          <p:cNvPr id="2" name="TextBox 1">
            <a:extLst>
              <a:ext uri="{FF2B5EF4-FFF2-40B4-BE49-F238E27FC236}">
                <a16:creationId xmlns:a16="http://schemas.microsoft.com/office/drawing/2014/main" id="{1F9F62C3-78D0-4EE7-9A17-D83F877468BE}"/>
              </a:ext>
            </a:extLst>
          </p:cNvPr>
          <p:cNvSpPr txBox="1"/>
          <p:nvPr/>
        </p:nvSpPr>
        <p:spPr>
          <a:xfrm>
            <a:off x="624515" y="977861"/>
            <a:ext cx="14630400" cy="1107996"/>
          </a:xfrm>
          <a:prstGeom prst="rect">
            <a:avLst/>
          </a:prstGeom>
          <a:noFill/>
        </p:spPr>
        <p:txBody>
          <a:bodyPr vert="horz" lIns="182880" tIns="91440" rIns="182880" bIns="91440" rtlCol="0" anchor="t" anchorCtr="0">
            <a:spAutoFit/>
          </a:bodyPr>
          <a:lstStyle/>
          <a:p>
            <a:pPr fontAlgn="t"/>
            <a:r>
              <a:rPr lang="en-US" sz="5600" dirty="0">
                <a:solidFill>
                  <a:schemeClr val="bg1"/>
                </a:solidFill>
                <a:latin typeface="Arial"/>
              </a:rPr>
              <a:t> 6. </a:t>
            </a:r>
            <a:r>
              <a:rPr lang="en-US" sz="6000" dirty="0">
                <a:solidFill>
                  <a:schemeClr val="bg1"/>
                </a:solidFill>
                <a:latin typeface="Arial"/>
              </a:rPr>
              <a:t>outliers Handling</a:t>
            </a:r>
          </a:p>
        </p:txBody>
      </p:sp>
      <p:sp>
        <p:nvSpPr>
          <p:cNvPr id="3" name="TextBox 2">
            <a:extLst>
              <a:ext uri="{FF2B5EF4-FFF2-40B4-BE49-F238E27FC236}">
                <a16:creationId xmlns:a16="http://schemas.microsoft.com/office/drawing/2014/main" id="{90948204-AA9D-3D12-E342-30D21D7E3E96}"/>
              </a:ext>
            </a:extLst>
          </p:cNvPr>
          <p:cNvSpPr txBox="1"/>
          <p:nvPr/>
        </p:nvSpPr>
        <p:spPr>
          <a:xfrm>
            <a:off x="929315" y="2476499"/>
            <a:ext cx="7010400" cy="6278642"/>
          </a:xfrm>
          <a:prstGeom prst="rect">
            <a:avLst/>
          </a:prstGeom>
          <a:noFill/>
        </p:spPr>
        <p:txBody>
          <a:bodyPr vert="horz" wrap="square" lIns="182880" tIns="91440" rIns="182880" bIns="91440" rtlCol="0" anchorCtr="0">
            <a:spAutoFit/>
          </a:bodyPr>
          <a:lstStyle/>
          <a:p>
            <a:pPr algn="just" fontAlgn="base"/>
            <a:r>
              <a:rPr lang="en-US" sz="3600" dirty="0">
                <a:solidFill>
                  <a:schemeClr val="bg1"/>
                </a:solidFill>
                <a:latin typeface="Arial"/>
              </a:rPr>
              <a:t>I chose not drop all of the outliers because there are values, we need to know so I handled some values of average price and lead time.</a:t>
            </a:r>
          </a:p>
          <a:p>
            <a:pPr algn="just" fontAlgn="base"/>
            <a:endParaRPr lang="en-US" sz="3600" dirty="0">
              <a:solidFill>
                <a:schemeClr val="bg1"/>
              </a:solidFill>
              <a:latin typeface="Arial"/>
            </a:endParaRPr>
          </a:p>
          <a:p>
            <a:pPr algn="just" fontAlgn="base"/>
            <a:r>
              <a:rPr lang="en-US" sz="3600" dirty="0">
                <a:solidFill>
                  <a:schemeClr val="bg1"/>
                </a:solidFill>
                <a:latin typeface="Arial"/>
              </a:rPr>
              <a:t>We notice in average price plot that the value after 300 won’t affect the model so we drop them as well as the values after 400 in lead time</a:t>
            </a:r>
          </a:p>
        </p:txBody>
      </p:sp>
      <p:pic>
        <p:nvPicPr>
          <p:cNvPr id="12" name="Picture 11">
            <a:extLst>
              <a:ext uri="{FF2B5EF4-FFF2-40B4-BE49-F238E27FC236}">
                <a16:creationId xmlns:a16="http://schemas.microsoft.com/office/drawing/2014/main" id="{93F70CD5-F4A0-90C7-6349-FF14FA11E06A}"/>
              </a:ext>
            </a:extLst>
          </p:cNvPr>
          <p:cNvPicPr>
            <a:picLocks noChangeAspect="1"/>
          </p:cNvPicPr>
          <p:nvPr/>
        </p:nvPicPr>
        <p:blipFill>
          <a:blip r:embed="rId2"/>
          <a:stretch>
            <a:fillRect/>
          </a:stretch>
        </p:blipFill>
        <p:spPr>
          <a:xfrm>
            <a:off x="8458199" y="661835"/>
            <a:ext cx="4372429" cy="3629329"/>
          </a:xfrm>
          <a:prstGeom prst="rect">
            <a:avLst/>
          </a:prstGeom>
        </p:spPr>
      </p:pic>
      <p:pic>
        <p:nvPicPr>
          <p:cNvPr id="5" name="Picture 4">
            <a:extLst>
              <a:ext uri="{FF2B5EF4-FFF2-40B4-BE49-F238E27FC236}">
                <a16:creationId xmlns:a16="http://schemas.microsoft.com/office/drawing/2014/main" id="{3753CC23-5EC1-FC4F-52E3-F5C7F6F32586}"/>
              </a:ext>
            </a:extLst>
          </p:cNvPr>
          <p:cNvPicPr>
            <a:picLocks noChangeAspect="1"/>
          </p:cNvPicPr>
          <p:nvPr/>
        </p:nvPicPr>
        <p:blipFill>
          <a:blip r:embed="rId3"/>
          <a:stretch>
            <a:fillRect/>
          </a:stretch>
        </p:blipFill>
        <p:spPr>
          <a:xfrm>
            <a:off x="13316057" y="661835"/>
            <a:ext cx="4057543" cy="3629329"/>
          </a:xfrm>
          <a:prstGeom prst="rect">
            <a:avLst/>
          </a:prstGeom>
        </p:spPr>
      </p:pic>
      <p:pic>
        <p:nvPicPr>
          <p:cNvPr id="7" name="Picture 6">
            <a:extLst>
              <a:ext uri="{FF2B5EF4-FFF2-40B4-BE49-F238E27FC236}">
                <a16:creationId xmlns:a16="http://schemas.microsoft.com/office/drawing/2014/main" id="{A9AFB4BA-4A79-3AC0-38CD-125CAB4A4D60}"/>
              </a:ext>
            </a:extLst>
          </p:cNvPr>
          <p:cNvPicPr>
            <a:picLocks noChangeAspect="1"/>
          </p:cNvPicPr>
          <p:nvPr/>
        </p:nvPicPr>
        <p:blipFill>
          <a:blip r:embed="rId4"/>
          <a:stretch>
            <a:fillRect/>
          </a:stretch>
        </p:blipFill>
        <p:spPr>
          <a:xfrm>
            <a:off x="8458199" y="5000020"/>
            <a:ext cx="4372429" cy="3801080"/>
          </a:xfrm>
          <a:prstGeom prst="rect">
            <a:avLst/>
          </a:prstGeom>
        </p:spPr>
      </p:pic>
      <p:pic>
        <p:nvPicPr>
          <p:cNvPr id="9" name="Picture 8">
            <a:extLst>
              <a:ext uri="{FF2B5EF4-FFF2-40B4-BE49-F238E27FC236}">
                <a16:creationId xmlns:a16="http://schemas.microsoft.com/office/drawing/2014/main" id="{030B976E-D71D-4021-8D35-DAD54C6E7533}"/>
              </a:ext>
            </a:extLst>
          </p:cNvPr>
          <p:cNvPicPr>
            <a:picLocks noChangeAspect="1"/>
          </p:cNvPicPr>
          <p:nvPr/>
        </p:nvPicPr>
        <p:blipFill>
          <a:blip r:embed="rId5"/>
          <a:stretch>
            <a:fillRect/>
          </a:stretch>
        </p:blipFill>
        <p:spPr>
          <a:xfrm>
            <a:off x="13258098" y="5000020"/>
            <a:ext cx="4115502" cy="3801080"/>
          </a:xfrm>
          <a:prstGeom prst="rect">
            <a:avLst/>
          </a:prstGeom>
        </p:spPr>
      </p:pic>
    </p:spTree>
    <p:extLst>
      <p:ext uri="{BB962C8B-B14F-4D97-AF65-F5344CB8AC3E}">
        <p14:creationId xmlns:p14="http://schemas.microsoft.com/office/powerpoint/2010/main" val="3316642539"/>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49B263-1C8F-66D1-0F78-62D24A57CA2E}"/>
            </a:ext>
          </a:extLst>
        </p:cNvPr>
        <p:cNvGrpSpPr/>
        <p:nvPr/>
      </p:nvGrpSpPr>
      <p:grpSpPr>
        <a:xfrm>
          <a:off x="914400" y="1028700"/>
          <a:ext cx="8229600" cy="4543425"/>
          <a:chOff x="914400" y="1028700"/>
          <a:chExt cx="8229600" cy="4543425"/>
        </a:xfrm>
      </p:grpSpPr>
      <p:sp>
        <p:nvSpPr>
          <p:cNvPr id="2" name="TextBox 1">
            <a:extLst>
              <a:ext uri="{FF2B5EF4-FFF2-40B4-BE49-F238E27FC236}">
                <a16:creationId xmlns:a16="http://schemas.microsoft.com/office/drawing/2014/main" id="{844250F1-78D8-DA82-3CFC-F22F6AF53526}"/>
              </a:ext>
            </a:extLst>
          </p:cNvPr>
          <p:cNvSpPr txBox="1"/>
          <p:nvPr/>
        </p:nvSpPr>
        <p:spPr>
          <a:xfrm>
            <a:off x="1828800" y="800942"/>
            <a:ext cx="14630400" cy="1200329"/>
          </a:xfrm>
          <a:prstGeom prst="rect">
            <a:avLst/>
          </a:prstGeom>
          <a:noFill/>
        </p:spPr>
        <p:txBody>
          <a:bodyPr vert="horz" lIns="182880" tIns="91440" rIns="182880" bIns="91440" rtlCol="0" anchor="t" anchorCtr="0">
            <a:spAutoFit/>
          </a:bodyPr>
          <a:lstStyle/>
          <a:p>
            <a:pPr algn="ctr" fontAlgn="t"/>
            <a:r>
              <a:rPr lang="en-US" sz="6600" dirty="0">
                <a:solidFill>
                  <a:schemeClr val="bg1"/>
                </a:solidFill>
              </a:rPr>
              <a:t>Models Used</a:t>
            </a:r>
            <a:endParaRPr lang="en-US" sz="6600" b="1" dirty="0">
              <a:solidFill>
                <a:schemeClr val="bg1"/>
              </a:solidFill>
              <a:latin typeface="Arial"/>
            </a:endParaRPr>
          </a:p>
        </p:txBody>
      </p:sp>
      <p:sp>
        <p:nvSpPr>
          <p:cNvPr id="3" name="TextBox 2">
            <a:extLst>
              <a:ext uri="{FF2B5EF4-FFF2-40B4-BE49-F238E27FC236}">
                <a16:creationId xmlns:a16="http://schemas.microsoft.com/office/drawing/2014/main" id="{FA65D3A4-2C60-84B1-3F26-C3FAF7CBF32E}"/>
              </a:ext>
            </a:extLst>
          </p:cNvPr>
          <p:cNvSpPr txBox="1"/>
          <p:nvPr/>
        </p:nvSpPr>
        <p:spPr>
          <a:xfrm>
            <a:off x="1803400" y="2095500"/>
            <a:ext cx="15087600" cy="7263527"/>
          </a:xfrm>
          <a:prstGeom prst="rect">
            <a:avLst/>
          </a:prstGeom>
          <a:noFill/>
        </p:spPr>
        <p:txBody>
          <a:bodyPr vert="horz" wrap="square" lIns="182880" tIns="91440" rIns="182880" bIns="91440" rtlCol="0" anchorCtr="0">
            <a:spAutoFit/>
          </a:bodyPr>
          <a:lstStyle/>
          <a:p>
            <a:pPr algn="ctr"/>
            <a:endParaRPr lang="en-US" sz="4000" dirty="0">
              <a:solidFill>
                <a:schemeClr val="bg1"/>
              </a:solidFill>
            </a:endParaRPr>
          </a:p>
          <a:p>
            <a:pPr algn="ctr"/>
            <a:r>
              <a:rPr lang="en-US" sz="4400" b="1" dirty="0">
                <a:solidFill>
                  <a:schemeClr val="bg1"/>
                </a:solidFill>
              </a:rPr>
              <a:t>K-Nearest Neighbors (KNN)</a:t>
            </a:r>
          </a:p>
          <a:p>
            <a:pPr algn="ctr"/>
            <a:endParaRPr lang="en-US" sz="4400" b="1" dirty="0">
              <a:solidFill>
                <a:schemeClr val="bg1"/>
              </a:solidFill>
            </a:endParaRPr>
          </a:p>
          <a:p>
            <a:pPr algn="ctr"/>
            <a:r>
              <a:rPr lang="en-US" sz="4400" b="1" dirty="0">
                <a:solidFill>
                  <a:schemeClr val="bg1"/>
                </a:solidFill>
              </a:rPr>
              <a:t>Decision Tree</a:t>
            </a:r>
          </a:p>
          <a:p>
            <a:pPr algn="ctr"/>
            <a:endParaRPr lang="en-US" sz="4400" b="1" dirty="0">
              <a:solidFill>
                <a:schemeClr val="bg1"/>
              </a:solidFill>
            </a:endParaRPr>
          </a:p>
          <a:p>
            <a:pPr algn="ctr"/>
            <a:r>
              <a:rPr lang="en-US" sz="4400" b="1" dirty="0">
                <a:solidFill>
                  <a:schemeClr val="bg1"/>
                </a:solidFill>
              </a:rPr>
              <a:t>Random Forest</a:t>
            </a:r>
          </a:p>
          <a:p>
            <a:pPr algn="ctr"/>
            <a:endParaRPr lang="en-US" sz="4000" dirty="0">
              <a:solidFill>
                <a:schemeClr val="bg1"/>
              </a:solidFill>
            </a:endParaRPr>
          </a:p>
          <a:p>
            <a:pPr algn="ctr"/>
            <a:endParaRPr lang="en-US" sz="4000" dirty="0">
              <a:solidFill>
                <a:schemeClr val="bg1"/>
              </a:solidFill>
            </a:endParaRPr>
          </a:p>
          <a:p>
            <a:r>
              <a:rPr lang="en-US" sz="4000" dirty="0">
                <a:solidFill>
                  <a:schemeClr val="bg1"/>
                </a:solidFill>
              </a:rPr>
              <a:t>We used three different algorithms to compare performance and choose the best one.</a:t>
            </a:r>
          </a:p>
          <a:p>
            <a:pPr fontAlgn="base"/>
            <a:endParaRPr lang="en-US" sz="4000" b="1" dirty="0">
              <a:solidFill>
                <a:schemeClr val="bg1"/>
              </a:solidFill>
              <a:latin typeface="Arial"/>
            </a:endParaRPr>
          </a:p>
        </p:txBody>
      </p:sp>
    </p:spTree>
    <p:extLst>
      <p:ext uri="{BB962C8B-B14F-4D97-AF65-F5344CB8AC3E}">
        <p14:creationId xmlns:p14="http://schemas.microsoft.com/office/powerpoint/2010/main" val="316503332"/>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4092A9-1872-E647-97CF-D3D18764A704}"/>
            </a:ext>
          </a:extLst>
        </p:cNvPr>
        <p:cNvGrpSpPr/>
        <p:nvPr/>
      </p:nvGrpSpPr>
      <p:grpSpPr>
        <a:xfrm>
          <a:off x="914400" y="1028700"/>
          <a:ext cx="8229600" cy="4543425"/>
          <a:chOff x="914400" y="1028700"/>
          <a:chExt cx="8229600" cy="4543425"/>
        </a:xfrm>
      </p:grpSpPr>
      <p:sp>
        <p:nvSpPr>
          <p:cNvPr id="2" name="TextBox 1">
            <a:extLst>
              <a:ext uri="{FF2B5EF4-FFF2-40B4-BE49-F238E27FC236}">
                <a16:creationId xmlns:a16="http://schemas.microsoft.com/office/drawing/2014/main" id="{A4A6EA55-3FD9-1A36-8803-637169183C55}"/>
              </a:ext>
            </a:extLst>
          </p:cNvPr>
          <p:cNvSpPr txBox="1"/>
          <p:nvPr/>
        </p:nvSpPr>
        <p:spPr>
          <a:xfrm>
            <a:off x="1828800" y="800942"/>
            <a:ext cx="14630400" cy="1200329"/>
          </a:xfrm>
          <a:prstGeom prst="rect">
            <a:avLst/>
          </a:prstGeom>
          <a:noFill/>
        </p:spPr>
        <p:txBody>
          <a:bodyPr vert="horz" lIns="182880" tIns="91440" rIns="182880" bIns="91440" rtlCol="0" anchor="t" anchorCtr="0">
            <a:spAutoFit/>
          </a:bodyPr>
          <a:lstStyle/>
          <a:p>
            <a:pPr algn="ctr" fontAlgn="t"/>
            <a:r>
              <a:rPr lang="en-US" sz="6600" dirty="0">
                <a:solidFill>
                  <a:schemeClr val="bg1"/>
                </a:solidFill>
              </a:rPr>
              <a:t>KNN Overview</a:t>
            </a:r>
            <a:endParaRPr lang="en-US" sz="6600" b="1" dirty="0">
              <a:solidFill>
                <a:schemeClr val="bg1"/>
              </a:solidFill>
              <a:latin typeface="Arial"/>
            </a:endParaRPr>
          </a:p>
        </p:txBody>
      </p:sp>
      <p:sp>
        <p:nvSpPr>
          <p:cNvPr id="3" name="TextBox 2">
            <a:extLst>
              <a:ext uri="{FF2B5EF4-FFF2-40B4-BE49-F238E27FC236}">
                <a16:creationId xmlns:a16="http://schemas.microsoft.com/office/drawing/2014/main" id="{CFC05CBF-D287-A1DF-3CB8-FC3E637D2721}"/>
              </a:ext>
            </a:extLst>
          </p:cNvPr>
          <p:cNvSpPr txBox="1"/>
          <p:nvPr/>
        </p:nvSpPr>
        <p:spPr>
          <a:xfrm>
            <a:off x="457200" y="2400300"/>
            <a:ext cx="15087600" cy="8186857"/>
          </a:xfrm>
          <a:prstGeom prst="rect">
            <a:avLst/>
          </a:prstGeom>
          <a:noFill/>
        </p:spPr>
        <p:txBody>
          <a:bodyPr vert="horz" wrap="square" lIns="182880" tIns="91440" rIns="182880" bIns="91440" rtlCol="0" anchorCtr="0">
            <a:spAutoFit/>
          </a:bodyPr>
          <a:lstStyle/>
          <a:p>
            <a:pPr marL="571500" indent="-571500">
              <a:buFont typeface="Arial" panose="020B0604020202020204" pitchFamily="34" charset="0"/>
              <a:buChar char="•"/>
            </a:pPr>
            <a:r>
              <a:rPr lang="en-US" sz="4000" b="1" dirty="0">
                <a:solidFill>
                  <a:schemeClr val="bg1"/>
                </a:solidFill>
                <a:latin typeface="Arial"/>
              </a:rPr>
              <a:t> </a:t>
            </a:r>
            <a:r>
              <a:rPr lang="en-US" sz="4000" dirty="0">
                <a:solidFill>
                  <a:schemeClr val="bg1"/>
                </a:solidFill>
              </a:rPr>
              <a:t>Distance-based algorithm</a:t>
            </a:r>
          </a:p>
          <a:p>
            <a:pPr marL="571500" indent="-571500">
              <a:buFont typeface="Arial" panose="020B0604020202020204" pitchFamily="34" charset="0"/>
              <a:buChar char="•"/>
            </a:pPr>
            <a:r>
              <a:rPr lang="en-US" sz="4000" dirty="0">
                <a:solidFill>
                  <a:schemeClr val="bg1"/>
                </a:solidFill>
              </a:rPr>
              <a:t>Classifies based on nearest neighbors</a:t>
            </a:r>
          </a:p>
          <a:p>
            <a:pPr marL="571500" indent="-571500">
              <a:buFont typeface="Arial" panose="020B0604020202020204" pitchFamily="34" charset="0"/>
              <a:buChar char="•"/>
            </a:pPr>
            <a:r>
              <a:rPr lang="en-US" sz="4000" dirty="0">
                <a:solidFill>
                  <a:schemeClr val="bg1"/>
                </a:solidFill>
              </a:rPr>
              <a:t>Sensitive to feature scaling</a:t>
            </a:r>
          </a:p>
          <a:p>
            <a:pPr marL="571500" indent="-571500">
              <a:buFont typeface="Arial" panose="020B0604020202020204" pitchFamily="34" charset="0"/>
              <a:buChar char="•"/>
            </a:pPr>
            <a:endParaRPr lang="en-US" sz="4000" dirty="0">
              <a:solidFill>
                <a:schemeClr val="bg1"/>
              </a:solidFill>
            </a:endParaRPr>
          </a:p>
          <a:p>
            <a:endParaRPr lang="en-US" sz="4000" dirty="0">
              <a:solidFill>
                <a:schemeClr val="bg1"/>
              </a:solidFill>
            </a:endParaRPr>
          </a:p>
          <a:p>
            <a:r>
              <a:rPr lang="en-US" sz="4000" dirty="0">
                <a:solidFill>
                  <a:schemeClr val="bg1"/>
                </a:solidFill>
              </a:rPr>
              <a:t>KNN sorts the data by nearest K points in</a:t>
            </a:r>
          </a:p>
          <a:p>
            <a:r>
              <a:rPr lang="en-US" sz="4000" dirty="0">
                <a:solidFill>
                  <a:schemeClr val="bg1"/>
                </a:solidFill>
              </a:rPr>
              <a:t> the training set</a:t>
            </a:r>
          </a:p>
          <a:p>
            <a:pPr marL="571500" indent="-571500">
              <a:buFont typeface="Wingdings" panose="05000000000000000000" pitchFamily="2" charset="2"/>
              <a:buChar char="v"/>
            </a:pPr>
            <a:endParaRPr lang="en-US" sz="4000" b="1" dirty="0">
              <a:solidFill>
                <a:schemeClr val="bg1"/>
              </a:solidFill>
            </a:endParaRPr>
          </a:p>
          <a:p>
            <a:pPr marL="571500" indent="-571500">
              <a:buFont typeface="Wingdings" panose="05000000000000000000" pitchFamily="2" charset="2"/>
              <a:buChar char="v"/>
            </a:pPr>
            <a:endParaRPr lang="en-US" sz="4000" b="1" dirty="0">
              <a:solidFill>
                <a:schemeClr val="bg1"/>
              </a:solidFill>
            </a:endParaRPr>
          </a:p>
          <a:p>
            <a:pPr marL="571500" indent="-571500">
              <a:buFont typeface="Wingdings" panose="05000000000000000000" pitchFamily="2" charset="2"/>
              <a:buChar char="v"/>
            </a:pPr>
            <a:r>
              <a:rPr lang="en-US" sz="4000" b="1" dirty="0">
                <a:solidFill>
                  <a:schemeClr val="bg1"/>
                </a:solidFill>
              </a:rPr>
              <a:t>Feature Scaling : </a:t>
            </a:r>
            <a:r>
              <a:rPr lang="en-US" sz="4000" dirty="0">
                <a:solidFill>
                  <a:schemeClr val="bg1"/>
                </a:solidFill>
              </a:rPr>
              <a:t>Scaling was only applied to numerical data because KNN is based on the distance between points.</a:t>
            </a:r>
          </a:p>
          <a:p>
            <a:endParaRPr lang="en-US" sz="4000" dirty="0">
              <a:solidFill>
                <a:schemeClr val="bg1"/>
              </a:solidFill>
            </a:endParaRPr>
          </a:p>
          <a:p>
            <a:pPr algn="ctr"/>
            <a:endParaRPr lang="en-US" sz="4000" dirty="0">
              <a:solidFill>
                <a:schemeClr val="bg1"/>
              </a:solidFill>
            </a:endParaRPr>
          </a:p>
        </p:txBody>
      </p:sp>
      <p:pic>
        <p:nvPicPr>
          <p:cNvPr id="5" name="Picture 4">
            <a:extLst>
              <a:ext uri="{FF2B5EF4-FFF2-40B4-BE49-F238E27FC236}">
                <a16:creationId xmlns:a16="http://schemas.microsoft.com/office/drawing/2014/main" id="{84032E98-9594-2907-9733-748D8E7307D9}"/>
              </a:ext>
            </a:extLst>
          </p:cNvPr>
          <p:cNvPicPr>
            <a:picLocks noChangeAspect="1"/>
          </p:cNvPicPr>
          <p:nvPr/>
        </p:nvPicPr>
        <p:blipFill>
          <a:blip r:embed="rId2"/>
          <a:stretch>
            <a:fillRect/>
          </a:stretch>
        </p:blipFill>
        <p:spPr>
          <a:xfrm>
            <a:off x="10210800" y="1997038"/>
            <a:ext cx="6839397" cy="6019800"/>
          </a:xfrm>
          <a:prstGeom prst="rect">
            <a:avLst/>
          </a:prstGeom>
        </p:spPr>
      </p:pic>
    </p:spTree>
    <p:extLst>
      <p:ext uri="{BB962C8B-B14F-4D97-AF65-F5344CB8AC3E}">
        <p14:creationId xmlns:p14="http://schemas.microsoft.com/office/powerpoint/2010/main" val="263302735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FAB88-CEC7-A522-B458-AC427B01173C}"/>
            </a:ext>
          </a:extLst>
        </p:cNvPr>
        <p:cNvGrpSpPr/>
        <p:nvPr/>
      </p:nvGrpSpPr>
      <p:grpSpPr>
        <a:xfrm>
          <a:off x="914400" y="1028700"/>
          <a:ext cx="8229600" cy="4543425"/>
          <a:chOff x="914400" y="1028700"/>
          <a:chExt cx="8229600" cy="4543425"/>
        </a:xfrm>
      </p:grpSpPr>
      <p:sp>
        <p:nvSpPr>
          <p:cNvPr id="2" name="TextBox 1">
            <a:extLst>
              <a:ext uri="{FF2B5EF4-FFF2-40B4-BE49-F238E27FC236}">
                <a16:creationId xmlns:a16="http://schemas.microsoft.com/office/drawing/2014/main" id="{5B1A9BD0-74FB-EAE9-426A-84605E1F7D64}"/>
              </a:ext>
            </a:extLst>
          </p:cNvPr>
          <p:cNvSpPr txBox="1"/>
          <p:nvPr/>
        </p:nvSpPr>
        <p:spPr>
          <a:xfrm>
            <a:off x="2133600" y="663896"/>
            <a:ext cx="14630400" cy="1107996"/>
          </a:xfrm>
          <a:prstGeom prst="rect">
            <a:avLst/>
          </a:prstGeom>
          <a:noFill/>
        </p:spPr>
        <p:txBody>
          <a:bodyPr vert="horz" lIns="182880" tIns="91440" rIns="182880" bIns="91440" rtlCol="0" anchor="t" anchorCtr="0">
            <a:spAutoFit/>
          </a:bodyPr>
          <a:lstStyle/>
          <a:p>
            <a:pPr algn="ctr" fontAlgn="t"/>
            <a:r>
              <a:rPr lang="en-US" sz="6000" dirty="0">
                <a:solidFill>
                  <a:schemeClr val="bg1"/>
                </a:solidFill>
              </a:rPr>
              <a:t>Decision Tree Overview</a:t>
            </a:r>
            <a:endParaRPr lang="en-US" sz="6000" b="1" dirty="0">
              <a:solidFill>
                <a:schemeClr val="bg1"/>
              </a:solidFill>
              <a:latin typeface="Arial"/>
            </a:endParaRPr>
          </a:p>
        </p:txBody>
      </p:sp>
      <p:sp>
        <p:nvSpPr>
          <p:cNvPr id="6" name="TextBox 5">
            <a:extLst>
              <a:ext uri="{FF2B5EF4-FFF2-40B4-BE49-F238E27FC236}">
                <a16:creationId xmlns:a16="http://schemas.microsoft.com/office/drawing/2014/main" id="{B2DA086C-FAC8-979C-64B4-DB67035A7150}"/>
              </a:ext>
            </a:extLst>
          </p:cNvPr>
          <p:cNvSpPr txBox="1"/>
          <p:nvPr/>
        </p:nvSpPr>
        <p:spPr>
          <a:xfrm>
            <a:off x="1981200" y="1771892"/>
            <a:ext cx="14630400" cy="2154436"/>
          </a:xfrm>
          <a:prstGeom prst="rect">
            <a:avLst/>
          </a:prstGeom>
          <a:noFill/>
        </p:spPr>
        <p:txBody>
          <a:bodyPr vert="horz" lIns="182880" tIns="91440" rIns="182880" bIns="91440" rtlCol="0" anchor="t" anchorCtr="0">
            <a:spAutoFit/>
          </a:bodyPr>
          <a:lstStyle/>
          <a:p>
            <a:pPr fontAlgn="t"/>
            <a:endParaRPr lang="en-US" sz="3200" b="1" dirty="0">
              <a:solidFill>
                <a:schemeClr val="bg1"/>
              </a:solidFill>
              <a:latin typeface="Arial"/>
            </a:endParaRPr>
          </a:p>
          <a:p>
            <a:pPr fontAlgn="t"/>
            <a:r>
              <a:rPr lang="en-US" sz="3200" dirty="0">
                <a:solidFill>
                  <a:schemeClr val="bg1"/>
                </a:solidFill>
                <a:latin typeface="Arial"/>
              </a:rPr>
              <a:t>We notice that its better in all from KNN as we see but its not the best one to use because in our data there is an outliers that we can’t drop them so we can get more accuracy if we used Random Forest.</a:t>
            </a:r>
          </a:p>
        </p:txBody>
      </p:sp>
      <p:pic>
        <p:nvPicPr>
          <p:cNvPr id="9" name="Picture 8">
            <a:extLst>
              <a:ext uri="{FF2B5EF4-FFF2-40B4-BE49-F238E27FC236}">
                <a16:creationId xmlns:a16="http://schemas.microsoft.com/office/drawing/2014/main" id="{903CD157-06FC-3720-8F52-3B51385350C3}"/>
              </a:ext>
            </a:extLst>
          </p:cNvPr>
          <p:cNvPicPr>
            <a:picLocks noChangeAspect="1"/>
          </p:cNvPicPr>
          <p:nvPr/>
        </p:nvPicPr>
        <p:blipFill>
          <a:blip r:embed="rId2"/>
          <a:stretch>
            <a:fillRect/>
          </a:stretch>
        </p:blipFill>
        <p:spPr>
          <a:xfrm>
            <a:off x="1981200" y="4457700"/>
            <a:ext cx="6324600" cy="4843238"/>
          </a:xfrm>
          <a:prstGeom prst="rect">
            <a:avLst/>
          </a:prstGeom>
        </p:spPr>
      </p:pic>
      <p:pic>
        <p:nvPicPr>
          <p:cNvPr id="11" name="Picture 10">
            <a:extLst>
              <a:ext uri="{FF2B5EF4-FFF2-40B4-BE49-F238E27FC236}">
                <a16:creationId xmlns:a16="http://schemas.microsoft.com/office/drawing/2014/main" id="{1C7F889B-77E0-DDFF-3FBE-889C94FB9BE0}"/>
              </a:ext>
            </a:extLst>
          </p:cNvPr>
          <p:cNvPicPr>
            <a:picLocks noChangeAspect="1"/>
          </p:cNvPicPr>
          <p:nvPr/>
        </p:nvPicPr>
        <p:blipFill>
          <a:blip r:embed="rId3"/>
          <a:stretch>
            <a:fillRect/>
          </a:stretch>
        </p:blipFill>
        <p:spPr>
          <a:xfrm>
            <a:off x="9448800" y="4457700"/>
            <a:ext cx="6019800" cy="4843237"/>
          </a:xfrm>
          <a:prstGeom prst="rect">
            <a:avLst/>
          </a:prstGeom>
        </p:spPr>
      </p:pic>
    </p:spTree>
    <p:extLst>
      <p:ext uri="{BB962C8B-B14F-4D97-AF65-F5344CB8AC3E}">
        <p14:creationId xmlns:p14="http://schemas.microsoft.com/office/powerpoint/2010/main" val="336247590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0A656-2163-AFBE-D5FF-CB0967153A2D}"/>
            </a:ext>
          </a:extLst>
        </p:cNvPr>
        <p:cNvGrpSpPr/>
        <p:nvPr/>
      </p:nvGrpSpPr>
      <p:grpSpPr>
        <a:xfrm>
          <a:off x="914400" y="1028700"/>
          <a:ext cx="8229600" cy="4543425"/>
          <a:chOff x="914400" y="1028700"/>
          <a:chExt cx="8229600" cy="4543425"/>
        </a:xfrm>
      </p:grpSpPr>
      <p:sp>
        <p:nvSpPr>
          <p:cNvPr id="2" name="TextBox 1">
            <a:extLst>
              <a:ext uri="{FF2B5EF4-FFF2-40B4-BE49-F238E27FC236}">
                <a16:creationId xmlns:a16="http://schemas.microsoft.com/office/drawing/2014/main" id="{A173BC70-63DE-524C-BDC1-8AE9F49E6CF0}"/>
              </a:ext>
            </a:extLst>
          </p:cNvPr>
          <p:cNvSpPr txBox="1"/>
          <p:nvPr/>
        </p:nvSpPr>
        <p:spPr>
          <a:xfrm>
            <a:off x="1828800" y="800942"/>
            <a:ext cx="14630400" cy="1107996"/>
          </a:xfrm>
          <a:prstGeom prst="rect">
            <a:avLst/>
          </a:prstGeom>
          <a:noFill/>
        </p:spPr>
        <p:txBody>
          <a:bodyPr vert="horz" lIns="182880" tIns="91440" rIns="182880" bIns="91440" rtlCol="0" anchor="t" anchorCtr="0">
            <a:spAutoFit/>
          </a:bodyPr>
          <a:lstStyle/>
          <a:p>
            <a:pPr algn="ctr" fontAlgn="t"/>
            <a:r>
              <a:rPr lang="en-US" sz="6000" dirty="0">
                <a:solidFill>
                  <a:schemeClr val="bg1"/>
                </a:solidFill>
              </a:rPr>
              <a:t>Random Forest Overview</a:t>
            </a:r>
            <a:endParaRPr lang="en-US" sz="6000" b="1" dirty="0">
              <a:solidFill>
                <a:schemeClr val="bg1"/>
              </a:solidFill>
              <a:latin typeface="Arial"/>
            </a:endParaRPr>
          </a:p>
        </p:txBody>
      </p:sp>
      <p:sp>
        <p:nvSpPr>
          <p:cNvPr id="6" name="TextBox 5">
            <a:extLst>
              <a:ext uri="{FF2B5EF4-FFF2-40B4-BE49-F238E27FC236}">
                <a16:creationId xmlns:a16="http://schemas.microsoft.com/office/drawing/2014/main" id="{C0DB77D3-DF65-F764-AC74-8F71EF65BC33}"/>
              </a:ext>
            </a:extLst>
          </p:cNvPr>
          <p:cNvSpPr txBox="1"/>
          <p:nvPr/>
        </p:nvSpPr>
        <p:spPr>
          <a:xfrm>
            <a:off x="1981200" y="1771892"/>
            <a:ext cx="14630400" cy="2646878"/>
          </a:xfrm>
          <a:prstGeom prst="rect">
            <a:avLst/>
          </a:prstGeom>
          <a:noFill/>
        </p:spPr>
        <p:txBody>
          <a:bodyPr vert="horz" lIns="182880" tIns="91440" rIns="182880" bIns="91440" rtlCol="0" anchor="t" anchorCtr="0">
            <a:spAutoFit/>
          </a:bodyPr>
          <a:lstStyle/>
          <a:p>
            <a:pPr fontAlgn="t"/>
            <a:endParaRPr lang="en-US" sz="3200" b="1" dirty="0">
              <a:solidFill>
                <a:schemeClr val="bg1"/>
              </a:solidFill>
              <a:latin typeface="Arial"/>
            </a:endParaRPr>
          </a:p>
          <a:p>
            <a:pPr fontAlgn="t"/>
            <a:r>
              <a:rPr lang="en-US" sz="3200" dirty="0">
                <a:solidFill>
                  <a:schemeClr val="bg1"/>
                </a:solidFill>
                <a:latin typeface="Arial"/>
              </a:rPr>
              <a:t>We notice that its better in all from KNN and Decision Tree as we see because its less sensitive to Outliers</a:t>
            </a:r>
          </a:p>
          <a:p>
            <a:pPr fontAlgn="t"/>
            <a:endParaRPr lang="en-US" sz="3200" dirty="0">
              <a:solidFill>
                <a:schemeClr val="bg1"/>
              </a:solidFill>
              <a:latin typeface="Arial"/>
            </a:endParaRPr>
          </a:p>
          <a:p>
            <a:pPr fontAlgn="t"/>
            <a:endParaRPr lang="en-US" sz="3200" dirty="0">
              <a:solidFill>
                <a:schemeClr val="bg1"/>
              </a:solidFill>
              <a:latin typeface="Arial"/>
            </a:endParaRPr>
          </a:p>
        </p:txBody>
      </p:sp>
      <p:pic>
        <p:nvPicPr>
          <p:cNvPr id="4" name="Picture 3">
            <a:extLst>
              <a:ext uri="{FF2B5EF4-FFF2-40B4-BE49-F238E27FC236}">
                <a16:creationId xmlns:a16="http://schemas.microsoft.com/office/drawing/2014/main" id="{16975238-E49F-7A2D-966F-80476520320E}"/>
              </a:ext>
            </a:extLst>
          </p:cNvPr>
          <p:cNvPicPr>
            <a:picLocks noChangeAspect="1"/>
          </p:cNvPicPr>
          <p:nvPr/>
        </p:nvPicPr>
        <p:blipFill>
          <a:blip r:embed="rId2"/>
          <a:stretch>
            <a:fillRect/>
          </a:stretch>
        </p:blipFill>
        <p:spPr>
          <a:xfrm>
            <a:off x="1981200" y="4457700"/>
            <a:ext cx="6477000" cy="4843237"/>
          </a:xfrm>
          <a:prstGeom prst="rect">
            <a:avLst/>
          </a:prstGeom>
        </p:spPr>
      </p:pic>
      <p:pic>
        <p:nvPicPr>
          <p:cNvPr id="7" name="Picture 6">
            <a:extLst>
              <a:ext uri="{FF2B5EF4-FFF2-40B4-BE49-F238E27FC236}">
                <a16:creationId xmlns:a16="http://schemas.microsoft.com/office/drawing/2014/main" id="{C24BB18F-0FB1-ED00-6ED6-B5C90EFA57BB}"/>
              </a:ext>
            </a:extLst>
          </p:cNvPr>
          <p:cNvPicPr>
            <a:picLocks noChangeAspect="1"/>
          </p:cNvPicPr>
          <p:nvPr/>
        </p:nvPicPr>
        <p:blipFill>
          <a:blip r:embed="rId3"/>
          <a:stretch>
            <a:fillRect/>
          </a:stretch>
        </p:blipFill>
        <p:spPr>
          <a:xfrm>
            <a:off x="9144000" y="4457700"/>
            <a:ext cx="7116168" cy="4843237"/>
          </a:xfrm>
          <a:prstGeom prst="rect">
            <a:avLst/>
          </a:prstGeom>
        </p:spPr>
      </p:pic>
    </p:spTree>
    <p:extLst>
      <p:ext uri="{BB962C8B-B14F-4D97-AF65-F5344CB8AC3E}">
        <p14:creationId xmlns:p14="http://schemas.microsoft.com/office/powerpoint/2010/main" val="905684893"/>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1897F-AC9C-56D6-3046-AF79A9D559A8}"/>
            </a:ext>
          </a:extLst>
        </p:cNvPr>
        <p:cNvGrpSpPr/>
        <p:nvPr/>
      </p:nvGrpSpPr>
      <p:grpSpPr>
        <a:xfrm>
          <a:off x="914400" y="1028700"/>
          <a:ext cx="8229600" cy="4543425"/>
          <a:chOff x="914400" y="1028700"/>
          <a:chExt cx="8229600" cy="4543425"/>
        </a:xfrm>
      </p:grpSpPr>
      <p:sp>
        <p:nvSpPr>
          <p:cNvPr id="2" name="TextBox 1">
            <a:extLst>
              <a:ext uri="{FF2B5EF4-FFF2-40B4-BE49-F238E27FC236}">
                <a16:creationId xmlns:a16="http://schemas.microsoft.com/office/drawing/2014/main" id="{320E8A75-14E2-4A4C-EC3C-92DC72E1681F}"/>
              </a:ext>
            </a:extLst>
          </p:cNvPr>
          <p:cNvSpPr txBox="1"/>
          <p:nvPr/>
        </p:nvSpPr>
        <p:spPr>
          <a:xfrm>
            <a:off x="1828800" y="800942"/>
            <a:ext cx="14630400" cy="1107996"/>
          </a:xfrm>
          <a:prstGeom prst="rect">
            <a:avLst/>
          </a:prstGeom>
          <a:noFill/>
        </p:spPr>
        <p:txBody>
          <a:bodyPr vert="horz" lIns="182880" tIns="91440" rIns="182880" bIns="91440" rtlCol="0" anchor="t" anchorCtr="0">
            <a:spAutoFit/>
          </a:bodyPr>
          <a:lstStyle/>
          <a:p>
            <a:pPr algn="ctr" fontAlgn="t"/>
            <a:r>
              <a:rPr lang="en-US" sz="6000" dirty="0">
                <a:solidFill>
                  <a:schemeClr val="bg1"/>
                </a:solidFill>
              </a:rPr>
              <a:t>Model Comparison</a:t>
            </a:r>
            <a:endParaRPr lang="en-US" sz="6000" b="1" dirty="0">
              <a:solidFill>
                <a:schemeClr val="bg1"/>
              </a:solidFill>
              <a:latin typeface="Arial"/>
            </a:endParaRPr>
          </a:p>
        </p:txBody>
      </p:sp>
      <p:sp>
        <p:nvSpPr>
          <p:cNvPr id="6" name="TextBox 5">
            <a:extLst>
              <a:ext uri="{FF2B5EF4-FFF2-40B4-BE49-F238E27FC236}">
                <a16:creationId xmlns:a16="http://schemas.microsoft.com/office/drawing/2014/main" id="{216DAA86-83DC-94BC-030A-4D4BE99C95AC}"/>
              </a:ext>
            </a:extLst>
          </p:cNvPr>
          <p:cNvSpPr txBox="1"/>
          <p:nvPr/>
        </p:nvSpPr>
        <p:spPr>
          <a:xfrm>
            <a:off x="1859280" y="5143500"/>
            <a:ext cx="14630400" cy="4124206"/>
          </a:xfrm>
          <a:prstGeom prst="rect">
            <a:avLst/>
          </a:prstGeom>
          <a:noFill/>
        </p:spPr>
        <p:txBody>
          <a:bodyPr vert="horz" lIns="182880" tIns="91440" rIns="182880" bIns="91440" rtlCol="0" anchor="t" anchorCtr="0">
            <a:spAutoFit/>
          </a:bodyPr>
          <a:lstStyle/>
          <a:p>
            <a:pPr fontAlgn="t"/>
            <a:endParaRPr lang="en-US" sz="3200" b="1" dirty="0">
              <a:solidFill>
                <a:schemeClr val="bg1"/>
              </a:solidFill>
              <a:latin typeface="Arial"/>
            </a:endParaRPr>
          </a:p>
          <a:p>
            <a:pPr marL="457200" indent="-457200" fontAlgn="base">
              <a:buFont typeface="Arial" panose="020B0604020202020204" pitchFamily="34" charset="0"/>
              <a:buChar char="•"/>
            </a:pPr>
            <a:r>
              <a:rPr lang="en-US" sz="3200" dirty="0">
                <a:solidFill>
                  <a:schemeClr val="bg1"/>
                </a:solidFill>
                <a:latin typeface="Arial"/>
              </a:rPr>
              <a:t>Random Forest achieved the highest accuracy and True Positive and True Negative values, indicating better overall classification performance compared to KNN and Decision Tree.</a:t>
            </a:r>
          </a:p>
          <a:p>
            <a:pPr marL="457200" indent="-457200" fontAlgn="base">
              <a:buFont typeface="Arial" panose="020B0604020202020204" pitchFamily="34" charset="0"/>
              <a:buChar char="•"/>
            </a:pPr>
            <a:endParaRPr lang="ar-JO" sz="3200" dirty="0">
              <a:solidFill>
                <a:schemeClr val="bg1"/>
              </a:solidFill>
              <a:latin typeface="Arial"/>
            </a:endParaRPr>
          </a:p>
          <a:p>
            <a:pPr marL="457200" indent="-457200" fontAlgn="base">
              <a:buFont typeface="Arial" panose="020B0604020202020204" pitchFamily="34" charset="0"/>
              <a:buChar char="•"/>
            </a:pPr>
            <a:r>
              <a:rPr lang="en-US" sz="3200" dirty="0">
                <a:solidFill>
                  <a:schemeClr val="bg1"/>
                </a:solidFill>
                <a:latin typeface="Arial"/>
              </a:rPr>
              <a:t>Random Forest achieved the highest accuracy.(the winner!!)</a:t>
            </a:r>
          </a:p>
          <a:p>
            <a:pPr marL="457200" indent="-457200" fontAlgn="base">
              <a:buFont typeface="Arial" panose="020B0604020202020204" pitchFamily="34" charset="0"/>
              <a:buChar char="•"/>
            </a:pPr>
            <a:r>
              <a:rPr lang="en-US" sz="3200" dirty="0">
                <a:solidFill>
                  <a:schemeClr val="bg1"/>
                </a:solidFill>
                <a:latin typeface="Arial"/>
              </a:rPr>
              <a:t>KNN performance depends on scaling and the choice of K.</a:t>
            </a:r>
          </a:p>
          <a:p>
            <a:pPr marL="457200" indent="-457200" fontAlgn="base">
              <a:buFont typeface="Arial" panose="020B0604020202020204" pitchFamily="34" charset="0"/>
              <a:buChar char="•"/>
            </a:pPr>
            <a:r>
              <a:rPr lang="en-US" sz="3200" dirty="0">
                <a:solidFill>
                  <a:schemeClr val="bg1"/>
                </a:solidFill>
                <a:latin typeface="Arial"/>
              </a:rPr>
              <a:t>Decision Tree is interpretable but may overfit.</a:t>
            </a:r>
          </a:p>
        </p:txBody>
      </p:sp>
      <p:pic>
        <p:nvPicPr>
          <p:cNvPr id="5" name="Picture 4">
            <a:extLst>
              <a:ext uri="{FF2B5EF4-FFF2-40B4-BE49-F238E27FC236}">
                <a16:creationId xmlns:a16="http://schemas.microsoft.com/office/drawing/2014/main" id="{D268C2F0-4B6B-EC30-09D6-929A33603C89}"/>
              </a:ext>
            </a:extLst>
          </p:cNvPr>
          <p:cNvPicPr>
            <a:picLocks noChangeAspect="1"/>
          </p:cNvPicPr>
          <p:nvPr/>
        </p:nvPicPr>
        <p:blipFill>
          <a:blip r:embed="rId2"/>
          <a:stretch>
            <a:fillRect/>
          </a:stretch>
        </p:blipFill>
        <p:spPr>
          <a:xfrm>
            <a:off x="3645620" y="2171700"/>
            <a:ext cx="10996759" cy="3134824"/>
          </a:xfrm>
          <a:prstGeom prst="rect">
            <a:avLst/>
          </a:prstGeom>
        </p:spPr>
      </p:pic>
    </p:spTree>
    <p:extLst>
      <p:ext uri="{BB962C8B-B14F-4D97-AF65-F5344CB8AC3E}">
        <p14:creationId xmlns:p14="http://schemas.microsoft.com/office/powerpoint/2010/main" val="1404733890"/>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EFEF6-63D1-A0A3-0AF8-CC9F20D58A94}"/>
            </a:ext>
          </a:extLst>
        </p:cNvPr>
        <p:cNvGrpSpPr/>
        <p:nvPr/>
      </p:nvGrpSpPr>
      <p:grpSpPr>
        <a:xfrm>
          <a:off x="914400" y="1028700"/>
          <a:ext cx="8229600" cy="4543425"/>
          <a:chOff x="914400" y="1028700"/>
          <a:chExt cx="8229600" cy="4543425"/>
        </a:xfrm>
      </p:grpSpPr>
      <p:sp>
        <p:nvSpPr>
          <p:cNvPr id="2" name="TextBox 1">
            <a:extLst>
              <a:ext uri="{FF2B5EF4-FFF2-40B4-BE49-F238E27FC236}">
                <a16:creationId xmlns:a16="http://schemas.microsoft.com/office/drawing/2014/main" id="{4F3DBB35-63D4-E42B-B7D5-25BC50C322DE}"/>
              </a:ext>
            </a:extLst>
          </p:cNvPr>
          <p:cNvSpPr txBox="1"/>
          <p:nvPr/>
        </p:nvSpPr>
        <p:spPr>
          <a:xfrm>
            <a:off x="1828800" y="800942"/>
            <a:ext cx="14630400" cy="1200329"/>
          </a:xfrm>
          <a:prstGeom prst="rect">
            <a:avLst/>
          </a:prstGeom>
          <a:noFill/>
        </p:spPr>
        <p:txBody>
          <a:bodyPr vert="horz" lIns="182880" tIns="91440" rIns="182880" bIns="91440" rtlCol="0" anchor="t" anchorCtr="0">
            <a:spAutoFit/>
          </a:bodyPr>
          <a:lstStyle/>
          <a:p>
            <a:pPr algn="ctr" fontAlgn="t"/>
            <a:r>
              <a:rPr lang="en-US" sz="6600" dirty="0">
                <a:solidFill>
                  <a:schemeClr val="bg1"/>
                </a:solidFill>
              </a:rPr>
              <a:t>Correlation Analysis</a:t>
            </a:r>
            <a:endParaRPr lang="en-US" sz="6600" b="1" dirty="0">
              <a:solidFill>
                <a:schemeClr val="bg1"/>
              </a:solidFill>
              <a:latin typeface="Arial"/>
            </a:endParaRPr>
          </a:p>
        </p:txBody>
      </p:sp>
      <p:sp>
        <p:nvSpPr>
          <p:cNvPr id="3" name="TextBox 2">
            <a:extLst>
              <a:ext uri="{FF2B5EF4-FFF2-40B4-BE49-F238E27FC236}">
                <a16:creationId xmlns:a16="http://schemas.microsoft.com/office/drawing/2014/main" id="{887805FE-D7B8-27DF-FB93-1F1C36405E78}"/>
              </a:ext>
            </a:extLst>
          </p:cNvPr>
          <p:cNvSpPr txBox="1"/>
          <p:nvPr/>
        </p:nvSpPr>
        <p:spPr>
          <a:xfrm>
            <a:off x="12192000" y="2176939"/>
            <a:ext cx="5943600" cy="6647974"/>
          </a:xfrm>
          <a:prstGeom prst="rect">
            <a:avLst/>
          </a:prstGeom>
          <a:noFill/>
        </p:spPr>
        <p:txBody>
          <a:bodyPr vert="horz" wrap="square" lIns="182880" tIns="91440" rIns="182880" bIns="91440" rtlCol="0" anchorCtr="0">
            <a:spAutoFit/>
          </a:bodyPr>
          <a:lstStyle/>
          <a:p>
            <a:pPr fontAlgn="base"/>
            <a:r>
              <a:rPr lang="en-US" sz="4000" b="1" dirty="0">
                <a:solidFill>
                  <a:schemeClr val="bg1"/>
                </a:solidFill>
                <a:latin typeface="Arial"/>
              </a:rPr>
              <a:t>These are the main features that influenced the decision to cancel the reservation.</a:t>
            </a:r>
          </a:p>
          <a:p>
            <a:pPr fontAlgn="base"/>
            <a:endParaRPr lang="en-US" sz="4000" b="1" dirty="0">
              <a:solidFill>
                <a:schemeClr val="bg1"/>
              </a:solidFill>
              <a:latin typeface="Arial"/>
            </a:endParaRPr>
          </a:p>
          <a:p>
            <a:pPr fontAlgn="base"/>
            <a:endParaRPr lang="en-US" sz="2800" b="1" dirty="0">
              <a:solidFill>
                <a:schemeClr val="bg1"/>
              </a:solidFill>
              <a:latin typeface="Arial"/>
            </a:endParaRPr>
          </a:p>
          <a:p>
            <a:pPr fontAlgn="base"/>
            <a:r>
              <a:rPr lang="en-US" sz="2800" dirty="0">
                <a:solidFill>
                  <a:schemeClr val="bg1"/>
                </a:solidFill>
              </a:rPr>
              <a:t>Although some features show weak linear correlation, tree-based models like Random Forest can still capture non-linear patterns effectively.</a:t>
            </a:r>
          </a:p>
          <a:p>
            <a:pPr fontAlgn="base"/>
            <a:endParaRPr lang="en-US" sz="4000" b="1" dirty="0">
              <a:solidFill>
                <a:schemeClr val="bg1"/>
              </a:solidFill>
              <a:latin typeface="Arial"/>
            </a:endParaRPr>
          </a:p>
        </p:txBody>
      </p:sp>
      <p:pic>
        <p:nvPicPr>
          <p:cNvPr id="6" name="Picture 5">
            <a:extLst>
              <a:ext uri="{FF2B5EF4-FFF2-40B4-BE49-F238E27FC236}">
                <a16:creationId xmlns:a16="http://schemas.microsoft.com/office/drawing/2014/main" id="{1F9E998E-E28A-995A-463D-98A5E3615903}"/>
              </a:ext>
            </a:extLst>
          </p:cNvPr>
          <p:cNvPicPr>
            <a:picLocks noChangeAspect="1"/>
          </p:cNvPicPr>
          <p:nvPr/>
        </p:nvPicPr>
        <p:blipFill>
          <a:blip r:embed="rId2"/>
          <a:stretch>
            <a:fillRect/>
          </a:stretch>
        </p:blipFill>
        <p:spPr>
          <a:xfrm>
            <a:off x="3657600" y="2324100"/>
            <a:ext cx="7982319" cy="7479836"/>
          </a:xfrm>
          <a:prstGeom prst="rect">
            <a:avLst/>
          </a:prstGeom>
        </p:spPr>
      </p:pic>
    </p:spTree>
    <p:extLst>
      <p:ext uri="{BB962C8B-B14F-4D97-AF65-F5344CB8AC3E}">
        <p14:creationId xmlns:p14="http://schemas.microsoft.com/office/powerpoint/2010/main" val="3685948760"/>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717D43-90F3-BE12-0074-287AD36B8821}"/>
              </a:ext>
            </a:extLst>
          </p:cNvPr>
          <p:cNvSpPr txBox="1"/>
          <p:nvPr/>
        </p:nvSpPr>
        <p:spPr>
          <a:xfrm>
            <a:off x="6172200" y="4543335"/>
            <a:ext cx="5334000" cy="1200329"/>
          </a:xfrm>
          <a:prstGeom prst="rect">
            <a:avLst/>
          </a:prstGeom>
          <a:noFill/>
        </p:spPr>
        <p:txBody>
          <a:bodyPr wrap="square">
            <a:spAutoFit/>
          </a:bodyPr>
          <a:lstStyle/>
          <a:p>
            <a:pPr marL="14298" defTabSz="1029432">
              <a:spcBef>
                <a:spcPts val="113"/>
              </a:spcBef>
            </a:pPr>
            <a:r>
              <a:rPr lang="en-US" sz="7200" b="1" kern="0" dirty="0">
                <a:solidFill>
                  <a:schemeClr val="bg1"/>
                </a:solidFill>
                <a:latin typeface="Arial"/>
                <a:cs typeface="Arial"/>
              </a:rPr>
              <a:t>Thank</a:t>
            </a:r>
            <a:r>
              <a:rPr lang="en-US" sz="7200" b="1" kern="0" spc="-73" dirty="0">
                <a:solidFill>
                  <a:schemeClr val="bg1"/>
                </a:solidFill>
                <a:latin typeface="Arial"/>
                <a:cs typeface="Arial"/>
              </a:rPr>
              <a:t> </a:t>
            </a:r>
            <a:r>
              <a:rPr lang="en-US" sz="7200" b="1" kern="0" spc="-68" dirty="0">
                <a:solidFill>
                  <a:schemeClr val="bg1"/>
                </a:solidFill>
                <a:latin typeface="Arial"/>
                <a:cs typeface="Arial"/>
              </a:rPr>
              <a:t>You!</a:t>
            </a:r>
            <a:endParaRPr lang="en-US" sz="7200" kern="0" dirty="0">
              <a:solidFill>
                <a:schemeClr val="bg1"/>
              </a:solidFill>
              <a:latin typeface="Arial"/>
              <a:cs typeface="Arial"/>
            </a:endParaRPr>
          </a:p>
        </p:txBody>
      </p:sp>
    </p:spTree>
    <p:extLst>
      <p:ext uri="{BB962C8B-B14F-4D97-AF65-F5344CB8AC3E}">
        <p14:creationId xmlns:p14="http://schemas.microsoft.com/office/powerpoint/2010/main" val="3222714359"/>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3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889</TotalTime>
  <Words>557</Words>
  <Application>Microsoft Office PowerPoint</Application>
  <PresentationFormat>Custom</PresentationFormat>
  <Paragraphs>95</Paragraphs>
  <Slides>15</Slides>
  <Notes>1</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15</vt:i4>
      </vt:variant>
    </vt:vector>
  </HeadingPairs>
  <TitlesOfParts>
    <vt:vector size="22" baseType="lpstr">
      <vt:lpstr>Arial</vt:lpstr>
      <vt:lpstr>Calibri</vt:lpstr>
      <vt:lpstr>Wingdings</vt:lpstr>
      <vt:lpstr>Microsoft Sans Serif</vt:lpstr>
      <vt:lpstr>Aptos</vt:lpstr>
      <vt:lpstr>Office Theme</vt:lpstr>
      <vt:lpstr>3_Office Theme</vt:lpstr>
      <vt:lpstr>Hotel Booking Cancellation Prediction Machine Learning Classification Project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 Dashboard GUI Project (1).pptx</dc:title>
  <dc:creator>Mahmoud Walid</dc:creator>
  <cp:lastModifiedBy>nora shawqi</cp:lastModifiedBy>
  <cp:revision>562</cp:revision>
  <dcterms:created xsi:type="dcterms:W3CDTF">2006-08-16T00:00:00Z</dcterms:created>
  <dcterms:modified xsi:type="dcterms:W3CDTF">2026-02-13T19:09:01Z</dcterms:modified>
  <dc:identifier>DAGrq5cUFqU</dc:identifier>
</cp:coreProperties>
</file>